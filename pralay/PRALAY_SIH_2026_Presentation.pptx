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jury members. We present PRALAYADARSHI for SIH Problem Statement 26192. In fragile Himalayan catchments like Chamoli and Rudraprayag, flash floods and debris flows strike in less than an hour. Current systems give regional district-level alerts that tell officials 'rain is coming', but fail to answer where the surge will hit, how soon, or where villagers should run. Our core philosophy is simple: Compound Risk leads to Lead Time, which drives immediate 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outlines our core solution architecture. Rather than building a generic dashboard, PRALAY is ruthlessly designed around four North Star operational questions: WHERE is the risk, HOW SEVERE, HOW SOON, and WHAT NOW. For disaster officials, our control room provides multi-hazard compound scores and sensor health. For the villager on the ground, we eliminate technical jargon and deliver a plain-language Citizen Card via SMS with their assigned shelter and ridge escape route.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detail our technical pipeline: Sense, Fuse, Assess, Predict, and Act. Our backend is built on FastAPI, PostGIS, and TimescaleDB hypertables for time-series telemetry. Our risk model is transparent and physics-grounded: calculating flood velocity and slope stability without black-box hallucinations. We enforce strict engineering guardrails: if an ultrasonic river sensor goes offline, it is marked UNAVAILABLE rather than silently normal, and repeating alerts are suppressed under a 30-minute cooldown to prevent warning fatigue.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addresses feasibility and real-world viability. We have already delivered and verified Phase A with a working software prototype, 14 passing integration tests, and pilot catchments in Chamoli. Our phased roadmap scales from pilot validation to solar IoT deployment. Importantly, we tackle real mountain challenges: if mountain cellular towers fail, our edge nodes buffer data via LoRaWAN; and if an upstream sensor breaks, the engine automatically degrades gracefully using spatial interpolation.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highlights our tangible operational impact. Our North Star target is a 30 to 45 minute estimated lead-time window, allowing families in high-risk zones like Raini to reach designated high-ground shelters before gorge waters crest. By maintaining false positive targets below 10%, we rebuild public trust in early warning systems. For NDRF commanders, PRALAY replaces vague weather warnings with high-confidence tactical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Slide 6 demonstrates the scientific and institutional grounding of PRALAY. Our algorithms build upon proven hydrological formulas including the Infinite Slope model and Topographic Wetness Index, benchmarked against historical records from the 2013 Kedarnath and 2021 Chamoli disasters. Furthermore, our alert dispatch architecture strictly complies with NDMA standard operating protocols and TRAI emergency telecom guidelines. 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85800"/>
            <a:ext cx="6217920" cy="365760"/>
          </a:xfrm>
          <a:prstGeom prst="roundRect">
            <a:avLst/>
          </a:prstGeom>
          <a:solidFill>
            <a:srgbClr val="12325C"/>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latin typeface="Segoe UI"/>
              </a:defRPr>
            </a:pPr>
            <a:r>
              <a:t>SMART INDIA HACKATHON 2026  •  PROBLEM STATEMENT 26192</a:t>
            </a:r>
          </a:p>
        </p:txBody>
      </p:sp>
      <p:sp>
        <p:nvSpPr>
          <p:cNvPr id="4" name="TextBox 3"/>
          <p:cNvSpPr txBox="1"/>
          <p:nvPr/>
        </p:nvSpPr>
        <p:spPr>
          <a:xfrm>
            <a:off x="731520" y="1188720"/>
            <a:ext cx="6858000" cy="1188720"/>
          </a:xfrm>
          <a:prstGeom prst="rect">
            <a:avLst/>
          </a:prstGeom>
          <a:noFill/>
        </p:spPr>
        <p:txBody>
          <a:bodyPr wrap="square" lIns="0" tIns="0">
            <a:spAutoFit/>
          </a:bodyPr>
          <a:lstStyle/>
          <a:p>
            <a:pPr>
              <a:spcAft>
                <a:spcPts val="200"/>
              </a:spcAft>
              <a:defRPr sz="4400" b="1">
                <a:solidFill>
                  <a:srgbClr val="FFFFFF"/>
                </a:solidFill>
                <a:latin typeface="Segoe UI"/>
              </a:defRPr>
            </a:pPr>
            <a:r>
              <a:t>PRALAYADARSHI</a:t>
            </a:r>
          </a:p>
          <a:p>
            <a:pPr>
              <a:defRPr sz="2000" b="1">
                <a:solidFill>
                  <a:srgbClr val="38BDF8"/>
                </a:solidFill>
                <a:latin typeface="Segoe UI"/>
              </a:defRPr>
            </a:pPr>
            <a:r>
              <a:t>Compound Risk → Lead Time → Action</a:t>
            </a:r>
          </a:p>
        </p:txBody>
      </p:sp>
      <p:sp>
        <p:nvSpPr>
          <p:cNvPr id="5" name="TextBox 4"/>
          <p:cNvSpPr txBox="1"/>
          <p:nvPr/>
        </p:nvSpPr>
        <p:spPr>
          <a:xfrm>
            <a:off x="731520" y="2514600"/>
            <a:ext cx="6583680" cy="731520"/>
          </a:xfrm>
          <a:prstGeom prst="rect">
            <a:avLst/>
          </a:prstGeom>
          <a:noFill/>
        </p:spPr>
        <p:txBody>
          <a:bodyPr wrap="square" lIns="0" tIns="0">
            <a:spAutoFit/>
          </a:bodyPr>
          <a:lstStyle/>
          <a:p>
            <a:pPr>
              <a:spcAft>
                <a:spcPts val="400"/>
              </a:spcAft>
              <a:defRPr sz="1300">
                <a:solidFill>
                  <a:srgbClr val="E2E8F0"/>
                </a:solidFill>
                <a:latin typeface="Segoe UI"/>
              </a:defRPr>
            </a:pPr>
            <a:r>
              <a:t>Hyperlocal Flash Flood &amp; Debris Flow Early Warning with Ridge Evacuation Intelligence</a:t>
            </a:r>
          </a:p>
        </p:txBody>
      </p:sp>
      <p:sp>
        <p:nvSpPr>
          <p:cNvPr id="6" name="Rounded Rectangle 5"/>
          <p:cNvSpPr/>
          <p:nvPr/>
        </p:nvSpPr>
        <p:spPr>
          <a:xfrm>
            <a:off x="731520" y="3383280"/>
            <a:ext cx="6583680" cy="594360"/>
          </a:xfrm>
          <a:prstGeom prst="roundRect">
            <a:avLst/>
          </a:prstGeom>
          <a:solidFill>
            <a:srgbClr val="0E2646"/>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3456432"/>
            <a:ext cx="1536192" cy="438912"/>
          </a:xfrm>
          <a:prstGeom prst="roundRect">
            <a:avLst/>
          </a:prstGeom>
          <a:solidFill>
            <a:srgbClr val="143056"/>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22C55E"/>
                </a:solidFill>
                <a:latin typeface="Segoe UI"/>
              </a:defRPr>
            </a:pPr>
            <a:r>
              <a:t>GREEN: Nominal</a:t>
            </a:r>
          </a:p>
        </p:txBody>
      </p:sp>
      <p:sp>
        <p:nvSpPr>
          <p:cNvPr id="8" name="Rounded Rectangle 7"/>
          <p:cNvSpPr/>
          <p:nvPr/>
        </p:nvSpPr>
        <p:spPr>
          <a:xfrm>
            <a:off x="2432304" y="3456432"/>
            <a:ext cx="1536192" cy="438912"/>
          </a:xfrm>
          <a:prstGeom prst="roundRect">
            <a:avLst/>
          </a:prstGeom>
          <a:solidFill>
            <a:srgbClr val="143056"/>
          </a:solidFill>
          <a:ln w="1524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ACC15"/>
                </a:solidFill>
                <a:latin typeface="Segoe UI"/>
              </a:defRPr>
            </a:pPr>
            <a:r>
              <a:t>YELLOW: Watch</a:t>
            </a:r>
          </a:p>
        </p:txBody>
      </p:sp>
      <p:sp>
        <p:nvSpPr>
          <p:cNvPr id="9" name="Rounded Rectangle 8"/>
          <p:cNvSpPr/>
          <p:nvPr/>
        </p:nvSpPr>
        <p:spPr>
          <a:xfrm>
            <a:off x="4041648" y="3456432"/>
            <a:ext cx="1536192" cy="438912"/>
          </a:xfrm>
          <a:prstGeom prst="roundRect">
            <a:avLst/>
          </a:prstGeom>
          <a:solidFill>
            <a:srgbClr val="143056"/>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97316"/>
                </a:solidFill>
                <a:latin typeface="Segoe UI"/>
              </a:defRPr>
            </a:pPr>
            <a:r>
              <a:t>ORANGE: Prepare</a:t>
            </a:r>
          </a:p>
        </p:txBody>
      </p:sp>
      <p:sp>
        <p:nvSpPr>
          <p:cNvPr id="10" name="Rounded Rectangle 9"/>
          <p:cNvSpPr/>
          <p:nvPr/>
        </p:nvSpPr>
        <p:spPr>
          <a:xfrm>
            <a:off x="5650992" y="3456432"/>
            <a:ext cx="1536192" cy="438912"/>
          </a:xfrm>
          <a:prstGeom prst="roundRect">
            <a:avLst/>
          </a:prstGeom>
          <a:solidFill>
            <a:srgbClr val="143056"/>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EF4444"/>
                </a:solidFill>
                <a:latin typeface="Segoe UI"/>
              </a:defRPr>
            </a:pPr>
            <a:r>
              <a:t>RED: Evacuate</a:t>
            </a:r>
          </a:p>
        </p:txBody>
      </p:sp>
      <p:sp>
        <p:nvSpPr>
          <p:cNvPr id="11" name="Rounded Rectangle 10"/>
          <p:cNvSpPr/>
          <p:nvPr/>
        </p:nvSpPr>
        <p:spPr>
          <a:xfrm>
            <a:off x="731520" y="4206240"/>
            <a:ext cx="6583680" cy="2103120"/>
          </a:xfrm>
          <a:prstGeom prst="roundRect">
            <a:avLst/>
          </a:prstGeom>
          <a:solidFill>
            <a:srgbClr val="102A4C"/>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343400"/>
            <a:ext cx="6217920" cy="1828800"/>
          </a:xfrm>
          <a:prstGeom prst="rect">
            <a:avLst/>
          </a:prstGeom>
          <a:noFill/>
        </p:spPr>
        <p:txBody>
          <a:bodyPr wrap="square">
            <a:spAutoFit/>
          </a:bodyPr>
          <a:lstStyle/>
          <a:p>
            <a:pPr>
              <a:spcAft>
                <a:spcPts val="400"/>
              </a:spcAft>
              <a:defRPr sz="1000" b="1">
                <a:solidFill>
                  <a:srgbClr val="38BDF8"/>
                </a:solidFill>
                <a:latin typeface="Segoe UI"/>
              </a:defRPr>
            </a:pPr>
            <a:r>
              <a:t>ORGANIZATION &amp; DOMAIN CONTEXT</a:t>
            </a:r>
          </a:p>
          <a:p>
            <a:pPr>
              <a:spcAft>
                <a:spcPts val="300"/>
              </a:spcAft>
            </a:pPr>
            <a:r>
              <a:rPr b="1" sz="1050">
                <a:solidFill>
                  <a:srgbClr val="FFFFFF"/>
                </a:solidFill>
              </a:rPr>
              <a:t>Organization: </a:t>
            </a:r>
            <a:r>
              <a:rPr sz="1050">
                <a:solidFill>
                  <a:srgbClr val="CBD5E1"/>
                </a:solidFill>
              </a:rPr>
              <a:t>Ministry of Home Affairs | NDRF / Disaster Management Division</a:t>
            </a:r>
          </a:p>
          <a:p>
            <a:pPr>
              <a:spcAft>
                <a:spcPts val="300"/>
              </a:spcAft>
            </a:pPr>
            <a:r>
              <a:rPr b="1" sz="1050">
                <a:solidFill>
                  <a:srgbClr val="FFFFFF"/>
                </a:solidFill>
              </a:rPr>
              <a:t>Problem Statement: </a:t>
            </a:r>
            <a:r>
              <a:rPr sz="1050">
                <a:solidFill>
                  <a:srgbClr val="CBD5E1"/>
                </a:solidFill>
              </a:rPr>
              <a:t>PS 26192 — Flash Flood Prediction System for Hilly Regions</a:t>
            </a:r>
          </a:p>
          <a:p>
            <a:pPr>
              <a:spcAft>
                <a:spcPts val="300"/>
              </a:spcAft>
            </a:pPr>
            <a:r>
              <a:rPr b="1" sz="1050">
                <a:solidFill>
                  <a:srgbClr val="FFFFFF"/>
                </a:solidFill>
              </a:rPr>
              <a:t>Theme / Category: </a:t>
            </a:r>
            <a:r>
              <a:rPr sz="1050">
                <a:solidFill>
                  <a:srgbClr val="CBD5E1"/>
                </a:solidFill>
              </a:rPr>
              <a:t>Disaster Management  •  Software Category</a:t>
            </a:r>
          </a:p>
          <a:p>
            <a:pPr>
              <a:spcAft>
                <a:spcPts val="300"/>
              </a:spcAft>
            </a:pPr>
            <a:r>
              <a:rPr b="1" sz="1050">
                <a:solidFill>
                  <a:srgbClr val="FFFFFF"/>
                </a:solidFill>
              </a:rPr>
              <a:t>Pilot Basin Focus: </a:t>
            </a:r>
            <a:r>
              <a:rPr sz="1050">
                <a:solidFill>
                  <a:srgbClr val="CBD5E1"/>
                </a:solidFill>
              </a:rPr>
              <a:t>Chamoli &amp; Rudraprayag Districts, Uttarakhand (Himalayan Catchments)</a:t>
            </a:r>
          </a:p>
        </p:txBody>
      </p:sp>
      <p:sp>
        <p:nvSpPr>
          <p:cNvPr id="13" name="Rounded Rectangle 12"/>
          <p:cNvSpPr/>
          <p:nvPr/>
        </p:nvSpPr>
        <p:spPr>
          <a:xfrm>
            <a:off x="7635240" y="1188720"/>
            <a:ext cx="3822191" cy="5120640"/>
          </a:xfrm>
          <a:prstGeom prst="roundRect">
            <a:avLst/>
          </a:prstGeom>
          <a:solidFill>
            <a:srgbClr val="102C5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1417320"/>
            <a:ext cx="3364992" cy="4663440"/>
          </a:xfrm>
          <a:prstGeom prst="rect">
            <a:avLst/>
          </a:prstGeom>
          <a:noFill/>
        </p:spPr>
        <p:txBody>
          <a:bodyPr wrap="square">
            <a:spAutoFit/>
          </a:bodyPr>
          <a:lstStyle/>
          <a:p>
            <a:pPr algn="ctr">
              <a:spcAft>
                <a:spcPts val="600"/>
              </a:spcAft>
              <a:defRPr sz="1100" b="1">
                <a:solidFill>
                  <a:srgbClr val="EF4444"/>
                </a:solidFill>
                <a:latin typeface="Segoe UI"/>
              </a:defRPr>
            </a:pPr>
            <a:r>
              <a:t>THE NORTH STAR LEAD TIME</a:t>
            </a:r>
          </a:p>
          <a:p>
            <a:pPr algn="ctr">
              <a:spcAft>
                <a:spcPts val="400"/>
              </a:spcAft>
              <a:defRPr sz="4800" b="1">
                <a:solidFill>
                  <a:srgbClr val="FFFFFF"/>
                </a:solidFill>
                <a:latin typeface="Segoe UI"/>
              </a:defRPr>
            </a:pPr>
            <a:r>
              <a:t>35 Mins</a:t>
            </a:r>
          </a:p>
          <a:p>
            <a:pPr algn="ctr">
              <a:spcAft>
                <a:spcPts val="1200"/>
              </a:spcAft>
              <a:defRPr sz="1300" b="1">
                <a:solidFill>
                  <a:srgbClr val="FACC15"/>
                </a:solidFill>
                <a:latin typeface="Segoe UI"/>
              </a:defRPr>
            </a:pPr>
            <a:r>
              <a:t>Estimated Lead Time Window</a:t>
            </a:r>
          </a:p>
          <a:p>
            <a:pPr>
              <a:spcAft>
                <a:spcPts val="600"/>
              </a:spcAft>
              <a:defRPr sz="1050">
                <a:solidFill>
                  <a:srgbClr val="E2E8F0"/>
                </a:solidFill>
                <a:latin typeface="Segoe UI"/>
              </a:defRPr>
            </a:pPr>
            <a:r>
              <a:t>• Transforms chaotic panic into structured, orderly village evacuation.</a:t>
            </a:r>
          </a:p>
          <a:p>
            <a:pPr>
              <a:spcAft>
                <a:spcPts val="600"/>
              </a:spcAft>
              <a:defRPr sz="1050">
                <a:solidFill>
                  <a:srgbClr val="E2E8F0"/>
                </a:solidFill>
                <a:latin typeface="Segoe UI"/>
              </a:defRPr>
            </a:pPr>
            <a:r>
              <a:t>• Dynamic physics calculation based on river surge rate of rise &amp; rainfall spikes.</a:t>
            </a:r>
          </a:p>
          <a:p>
            <a:pPr>
              <a:spcAft>
                <a:spcPts val="600"/>
              </a:spcAft>
              <a:defRPr sz="1050">
                <a:solidFill>
                  <a:srgbClr val="E2E8F0"/>
                </a:solidFill>
                <a:latin typeface="Segoe UI"/>
              </a:defRPr>
            </a:pPr>
            <a:r>
              <a:t>• Directly triggers plain-language Citizen Card dispatch to local feature phones.</a:t>
            </a:r>
          </a:p>
          <a:p>
            <a:pPr>
              <a:spcAft>
                <a:spcPts val="600"/>
              </a:spcAft>
              <a:defRPr sz="1050">
                <a:solidFill>
                  <a:srgbClr val="E2E8F0"/>
                </a:solidFill>
                <a:latin typeface="Segoe UI"/>
              </a:defRPr>
            </a:pPr>
            <a:r>
              <a:t>• Routes families to high-ground shelters strictly outside gorge flood plains.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950" b="1">
                <a:solidFill>
                  <a:srgbClr val="38BDF8"/>
                </a:solidFill>
                <a:latin typeface="Segoe UI"/>
              </a:defRPr>
            </a:pPr>
            <a:r>
              <a:t>SIH 2026 • PS 26192 • DISASTER MANAGEMENT</a:t>
            </a:r>
          </a:p>
        </p:txBody>
      </p:sp>
      <p:sp>
        <p:nvSpPr>
          <p:cNvPr id="4" name="TextBox 3"/>
          <p:cNvSpPr txBox="1"/>
          <p:nvPr/>
        </p:nvSpPr>
        <p:spPr>
          <a:xfrm>
            <a:off x="731520" y="658368"/>
            <a:ext cx="10728655" cy="868680"/>
          </a:xfrm>
          <a:prstGeom prst="rect">
            <a:avLst/>
          </a:prstGeom>
          <a:noFill/>
        </p:spPr>
        <p:txBody>
          <a:bodyPr wrap="square" lIns="0" rIns="0" tIns="0" bIns="0">
            <a:spAutoFit/>
          </a:bodyPr>
          <a:lstStyle/>
          <a:p>
            <a:pPr>
              <a:spcAft>
                <a:spcPts val="200"/>
              </a:spcAft>
              <a:defRPr sz="2200" b="1">
                <a:solidFill>
                  <a:srgbClr val="FFFFFF"/>
                </a:solidFill>
                <a:latin typeface="Segoe UI"/>
              </a:defRPr>
            </a:pPr>
            <a:r>
              <a:t>Proposed Solution &amp; North Star Architecture</a:t>
            </a:r>
          </a:p>
          <a:p>
            <a:pPr>
              <a:defRPr sz="1150">
                <a:solidFill>
                  <a:srgbClr val="CBD5E1"/>
                </a:solidFill>
                <a:latin typeface="Segoe UI"/>
              </a:defRPr>
            </a:pPr>
            <a:r>
              <a:t>Moving from Fragmented District Advisories to Hyperlocal, Actionable Decision Support</a:t>
            </a:r>
          </a:p>
        </p:txBody>
      </p:sp>
      <p:sp>
        <p:nvSpPr>
          <p:cNvPr id="5" name="Rounded Rectangle 4"/>
          <p:cNvSpPr/>
          <p:nvPr/>
        </p:nvSpPr>
        <p:spPr>
          <a:xfrm>
            <a:off x="731520" y="1645920"/>
            <a:ext cx="5230368" cy="2103120"/>
          </a:xfrm>
          <a:prstGeom prst="roundRect">
            <a:avLst/>
          </a:prstGeom>
          <a:solidFill>
            <a:srgbClr val="102A4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56048" cy="1920240"/>
          </a:xfrm>
          <a:prstGeom prst="rect">
            <a:avLst/>
          </a:prstGeom>
          <a:noFill/>
        </p:spPr>
        <p:txBody>
          <a:bodyPr wrap="square">
            <a:spAutoFit/>
          </a:bodyPr>
          <a:lstStyle/>
          <a:p>
            <a:pPr>
              <a:spcAft>
                <a:spcPts val="400"/>
              </a:spcAft>
              <a:defRPr sz="1100" b="1">
                <a:solidFill>
                  <a:srgbClr val="EF4444"/>
                </a:solidFill>
                <a:latin typeface="Segoe UI"/>
              </a:defRPr>
            </a:pPr>
            <a:r>
              <a:t>CURRENT SYSTEM SHORTCOMINGS (THE PROBLEM)</a:t>
            </a:r>
          </a:p>
          <a:p>
            <a:pPr>
              <a:spcAft>
                <a:spcPts val="250"/>
              </a:spcAft>
              <a:defRPr sz="1000">
                <a:solidFill>
                  <a:srgbClr val="CBD5E1"/>
                </a:solidFill>
                <a:latin typeface="Segoe UI"/>
              </a:defRPr>
            </a:pPr>
            <a:r>
              <a:t>✕ Macro-level alerts covering 100+ km² with zero village precision.</a:t>
            </a:r>
          </a:p>
          <a:p>
            <a:pPr>
              <a:spcAft>
                <a:spcPts val="250"/>
              </a:spcAft>
              <a:defRPr sz="1000">
                <a:solidFill>
                  <a:srgbClr val="CBD5E1"/>
                </a:solidFill>
                <a:latin typeface="Segoe UI"/>
              </a:defRPr>
            </a:pPr>
            <a:r>
              <a:t>✕ Isolated data silos: Rainfall, river gauges, and slope geology never fused.</a:t>
            </a:r>
          </a:p>
          <a:p>
            <a:pPr>
              <a:spcAft>
                <a:spcPts val="250"/>
              </a:spcAft>
              <a:defRPr sz="1000">
                <a:solidFill>
                  <a:srgbClr val="CBD5E1"/>
                </a:solidFill>
                <a:latin typeface="Segoe UI"/>
              </a:defRPr>
            </a:pPr>
            <a:r>
              <a:t>✕ Zero evacuation guidance: Citizens told 'heavy rain expected' without safe paths or shelter assignments.</a:t>
            </a:r>
          </a:p>
          <a:p>
            <a:pPr>
              <a:spcAft>
                <a:spcPts val="250"/>
              </a:spcAft>
              <a:defRPr sz="1000">
                <a:solidFill>
                  <a:srgbClr val="CBD5E1"/>
                </a:solidFill>
                <a:latin typeface="Segoe UI"/>
              </a:defRPr>
            </a:pPr>
            <a:r>
              <a:t>✕ Widespread alert fatigue from chronic district-wide false alarms.</a:t>
            </a:r>
          </a:p>
        </p:txBody>
      </p:sp>
      <p:sp>
        <p:nvSpPr>
          <p:cNvPr id="7" name="Rounded Rectangle 6"/>
          <p:cNvSpPr/>
          <p:nvPr/>
        </p:nvSpPr>
        <p:spPr>
          <a:xfrm>
            <a:off x="6217920" y="1645920"/>
            <a:ext cx="5230368" cy="2103120"/>
          </a:xfrm>
          <a:prstGeom prst="roundRect">
            <a:avLst/>
          </a:prstGeom>
          <a:solidFill>
            <a:srgbClr val="102A4C"/>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37360"/>
            <a:ext cx="4956048" cy="1920240"/>
          </a:xfrm>
          <a:prstGeom prst="rect">
            <a:avLst/>
          </a:prstGeom>
          <a:noFill/>
        </p:spPr>
        <p:txBody>
          <a:bodyPr wrap="square">
            <a:spAutoFit/>
          </a:bodyPr>
          <a:lstStyle/>
          <a:p>
            <a:pPr>
              <a:spcAft>
                <a:spcPts val="400"/>
              </a:spcAft>
              <a:defRPr sz="1100" b="1">
                <a:solidFill>
                  <a:srgbClr val="22C55E"/>
                </a:solidFill>
                <a:latin typeface="Segoe UI"/>
              </a:defRPr>
            </a:pPr>
            <a:r>
              <a:t>THE PRALAY INNOVATION (OUR SOLUTION)</a:t>
            </a:r>
          </a:p>
          <a:p>
            <a:pPr>
              <a:spcAft>
                <a:spcPts val="250"/>
              </a:spcAft>
              <a:defRPr sz="1000">
                <a:solidFill>
                  <a:srgbClr val="FFFFFF"/>
                </a:solidFill>
                <a:latin typeface="Segoe UI"/>
              </a:defRPr>
            </a:pPr>
            <a:r>
              <a:t>✓ Hyperlocal Catchments: Village-level watershed monitoring (Raini, Tharali, Joshimath).</a:t>
            </a:r>
          </a:p>
          <a:p>
            <a:pPr>
              <a:spcAft>
                <a:spcPts val="250"/>
              </a:spcAft>
              <a:defRPr sz="1000">
                <a:solidFill>
                  <a:srgbClr val="FFFFFF"/>
                </a:solidFill>
                <a:latin typeface="Segoe UI"/>
              </a:defRPr>
            </a:pPr>
            <a:r>
              <a:t>✓ Deterministic Physics Fusion: River rate-of-rise + rainfall intensity + soil pore saturation.</a:t>
            </a:r>
          </a:p>
          <a:p>
            <a:pPr>
              <a:spcAft>
                <a:spcPts val="250"/>
              </a:spcAft>
              <a:defRPr sz="1000">
                <a:solidFill>
                  <a:srgbClr val="FFFFFF"/>
                </a:solidFill>
                <a:latin typeface="Segoe UI"/>
              </a:defRPr>
            </a:pPr>
            <a:r>
              <a:t>✓ Dynamic Lead-Time Engine: Explicit 'Estimated Lead Time' in minutes (e.g. 35 mins).</a:t>
            </a:r>
          </a:p>
          <a:p>
            <a:pPr>
              <a:spcAft>
                <a:spcPts val="250"/>
              </a:spcAft>
              <a:defRPr sz="1000">
                <a:solidFill>
                  <a:srgbClr val="FFFFFF"/>
                </a:solidFill>
                <a:latin typeface="Segoe UI"/>
              </a:defRPr>
            </a:pPr>
            <a:r>
              <a:t>✓ Active Evacuation Routing: Automated shelter assignment avoiding gorge flood corridors.</a:t>
            </a:r>
          </a:p>
        </p:txBody>
      </p:sp>
      <p:sp>
        <p:nvSpPr>
          <p:cNvPr id="9" name="Rounded Rectangle 8"/>
          <p:cNvSpPr/>
          <p:nvPr/>
        </p:nvSpPr>
        <p:spPr>
          <a:xfrm>
            <a:off x="731520" y="3886200"/>
            <a:ext cx="2542032" cy="155448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3977639"/>
            <a:ext cx="2322576" cy="1371600"/>
          </a:xfrm>
          <a:prstGeom prst="rect">
            <a:avLst/>
          </a:prstGeom>
          <a:noFill/>
        </p:spPr>
        <p:txBody>
          <a:bodyPr wrap="square">
            <a:spAutoFit/>
          </a:bodyPr>
          <a:lstStyle/>
          <a:p>
            <a:pPr>
              <a:spcAft>
                <a:spcPts val="400"/>
              </a:spcAft>
              <a:defRPr sz="1050" b="1">
                <a:solidFill>
                  <a:srgbClr val="38BDF8"/>
                </a:solidFill>
                <a:latin typeface="Segoe UI"/>
              </a:defRPr>
            </a:pPr>
            <a:r>
              <a:t>1. WHERE IS THE RISK?</a:t>
            </a:r>
          </a:p>
          <a:p>
            <a:pPr>
              <a:defRPr sz="950">
                <a:solidFill>
                  <a:srgbClr val="E2E8F0"/>
                </a:solidFill>
                <a:latin typeface="Segoe UI"/>
              </a:defRPr>
            </a:pPr>
            <a:r>
              <a:t>Hyperlocal village catchment polygons (Lat/Lon, basin terrain, slope angle).</a:t>
            </a:r>
          </a:p>
        </p:txBody>
      </p:sp>
      <p:sp>
        <p:nvSpPr>
          <p:cNvPr id="11" name="Rounded Rectangle 10"/>
          <p:cNvSpPr/>
          <p:nvPr/>
        </p:nvSpPr>
        <p:spPr>
          <a:xfrm>
            <a:off x="3456432" y="3886200"/>
            <a:ext cx="2542032" cy="1554480"/>
          </a:xfrm>
          <a:prstGeom prst="roundRect">
            <a:avLst/>
          </a:prstGeom>
          <a:solidFill>
            <a:srgbClr val="17386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3977639"/>
            <a:ext cx="2322576" cy="1371600"/>
          </a:xfrm>
          <a:prstGeom prst="rect">
            <a:avLst/>
          </a:prstGeom>
          <a:noFill/>
        </p:spPr>
        <p:txBody>
          <a:bodyPr wrap="square">
            <a:spAutoFit/>
          </a:bodyPr>
          <a:lstStyle/>
          <a:p>
            <a:pPr>
              <a:spcAft>
                <a:spcPts val="400"/>
              </a:spcAft>
              <a:defRPr sz="1050" b="1">
                <a:solidFill>
                  <a:srgbClr val="F97316"/>
                </a:solidFill>
                <a:latin typeface="Segoe UI"/>
              </a:defRPr>
            </a:pPr>
            <a:r>
              <a:t>2. HOW SEVERE?</a:t>
            </a:r>
          </a:p>
          <a:p>
            <a:pPr>
              <a:defRPr sz="950">
                <a:solidFill>
                  <a:srgbClr val="E2E8F0"/>
                </a:solidFill>
                <a:latin typeface="Segoe UI"/>
              </a:defRPr>
            </a:pPr>
            <a:r>
              <a:t>Compound Risk (0–100) mapped to 4-Tier Scale: GREEN / YELLOW / ORANGE / RED.</a:t>
            </a:r>
          </a:p>
        </p:txBody>
      </p:sp>
      <p:sp>
        <p:nvSpPr>
          <p:cNvPr id="13" name="Rounded Rectangle 12"/>
          <p:cNvSpPr/>
          <p:nvPr/>
        </p:nvSpPr>
        <p:spPr>
          <a:xfrm>
            <a:off x="6181344" y="3886200"/>
            <a:ext cx="2542032" cy="1554480"/>
          </a:xfrm>
          <a:prstGeom prst="roundRect">
            <a:avLst/>
          </a:prstGeom>
          <a:solidFill>
            <a:srgbClr val="17386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3977639"/>
            <a:ext cx="2322576" cy="1371600"/>
          </a:xfrm>
          <a:prstGeom prst="rect">
            <a:avLst/>
          </a:prstGeom>
          <a:noFill/>
        </p:spPr>
        <p:txBody>
          <a:bodyPr wrap="square">
            <a:spAutoFit/>
          </a:bodyPr>
          <a:lstStyle/>
          <a:p>
            <a:pPr>
              <a:spcAft>
                <a:spcPts val="400"/>
              </a:spcAft>
              <a:defRPr sz="1050" b="1">
                <a:solidFill>
                  <a:srgbClr val="EF4444"/>
                </a:solidFill>
                <a:latin typeface="Segoe UI"/>
              </a:defRPr>
            </a:pPr>
            <a:r>
              <a:t>3. HOW SOON?</a:t>
            </a:r>
          </a:p>
          <a:p>
            <a:pPr>
              <a:defRPr sz="950">
                <a:solidFill>
                  <a:srgbClr val="E2E8F0"/>
                </a:solidFill>
                <a:latin typeface="Segoe UI"/>
              </a:defRPr>
            </a:pPr>
            <a:r>
              <a:t>Explicit 'Estimated Lead Time' in minutes (e.g. 35 mins), projected from surge rise.</a:t>
            </a:r>
          </a:p>
        </p:txBody>
      </p:sp>
      <p:sp>
        <p:nvSpPr>
          <p:cNvPr id="15" name="Rounded Rectangle 14"/>
          <p:cNvSpPr/>
          <p:nvPr/>
        </p:nvSpPr>
        <p:spPr>
          <a:xfrm>
            <a:off x="8906256" y="3886200"/>
            <a:ext cx="2542032" cy="1554480"/>
          </a:xfrm>
          <a:prstGeom prst="roundRect">
            <a:avLst/>
          </a:prstGeom>
          <a:solidFill>
            <a:srgbClr val="173862"/>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15984" y="3977639"/>
            <a:ext cx="2322576" cy="1371600"/>
          </a:xfrm>
          <a:prstGeom prst="rect">
            <a:avLst/>
          </a:prstGeom>
          <a:noFill/>
        </p:spPr>
        <p:txBody>
          <a:bodyPr wrap="square">
            <a:spAutoFit/>
          </a:bodyPr>
          <a:lstStyle/>
          <a:p>
            <a:pPr>
              <a:spcAft>
                <a:spcPts val="400"/>
              </a:spcAft>
              <a:defRPr sz="1050" b="1">
                <a:solidFill>
                  <a:srgbClr val="22C55E"/>
                </a:solidFill>
                <a:latin typeface="Segoe UI"/>
              </a:defRPr>
            </a:pPr>
            <a:r>
              <a:t>4. WHAT NOW?</a:t>
            </a:r>
          </a:p>
          <a:p>
            <a:pPr>
              <a:defRPr sz="950">
                <a:solidFill>
                  <a:srgbClr val="E2E8F0"/>
                </a:solidFill>
                <a:latin typeface="Segoe UI"/>
              </a:defRPr>
            </a:pPr>
            <a:r>
              <a:t>Designated safe shelter above flood line + turn-by-turn ridge bypass trail.</a:t>
            </a:r>
          </a:p>
        </p:txBody>
      </p:sp>
      <p:sp>
        <p:nvSpPr>
          <p:cNvPr id="17" name="Rounded Rectangle 16"/>
          <p:cNvSpPr/>
          <p:nvPr/>
        </p:nvSpPr>
        <p:spPr>
          <a:xfrm>
            <a:off x="731520" y="5577840"/>
            <a:ext cx="10728655" cy="868680"/>
          </a:xfrm>
          <a:prstGeom prst="roundRect">
            <a:avLst/>
          </a:prstGeom>
          <a:solidFill>
            <a:srgbClr val="0E2646"/>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623560"/>
            <a:ext cx="10454335" cy="777240"/>
          </a:xfrm>
          <a:prstGeom prst="rect">
            <a:avLst/>
          </a:prstGeom>
          <a:noFill/>
        </p:spPr>
        <p:txBody>
          <a:bodyPr wrap="square">
            <a:spAutoFit/>
          </a:bodyPr>
          <a:lstStyle/>
          <a:p>
            <a:r>
              <a:rPr b="1" sz="950">
                <a:solidFill>
                  <a:srgbClr val="38BDF8"/>
                </a:solidFill>
              </a:rPr>
              <a:t>DUAL-INTERFACE PARADIGM  •  </a:t>
            </a:r>
            <a:r>
              <a:rPr sz="950">
                <a:solidFill>
                  <a:srgbClr val="CBD5E1"/>
                </a:solidFill>
              </a:rPr>
              <a:t>Authority Operations Dashboard: Live GIS multi-hazard overlays, sensor telemetry, aggregate district metrics, and manual broadcast overrides.</a:t>
            </a:r>
          </a:p>
          <a:p>
            <a:r>
              <a:rPr b="1" sz="950">
                <a:solidFill>
                  <a:srgbClr val="22C55E"/>
                </a:solidFill>
              </a:rPr>
              <a:t>CITIZEN ALERT CARD (PRD §18)  •  </a:t>
            </a:r>
            <a:r>
              <a:rPr sz="950">
                <a:solidFill>
                  <a:srgbClr val="FFFFFF"/>
                </a:solidFill>
              </a:rPr>
              <a:t>Citizen Emergency Alert Card (PRD §18): Jargon-free vernacular SMS/Card — 'EVACUATE IMMEDIATELY to Raini Primary School via Upper Ridge Trail. Avoid River Ghat.'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950" b="1">
                <a:solidFill>
                  <a:srgbClr val="38BDF8"/>
                </a:solidFill>
                <a:latin typeface="Segoe UI"/>
              </a:defRPr>
            </a:pPr>
            <a:r>
              <a:t>SIH 2026 • PS 26192 • DISASTER MANAGEMENT</a:t>
            </a:r>
          </a:p>
        </p:txBody>
      </p:sp>
      <p:sp>
        <p:nvSpPr>
          <p:cNvPr id="4" name="TextBox 3"/>
          <p:cNvSpPr txBox="1"/>
          <p:nvPr/>
        </p:nvSpPr>
        <p:spPr>
          <a:xfrm>
            <a:off x="731520" y="658368"/>
            <a:ext cx="10728655" cy="868680"/>
          </a:xfrm>
          <a:prstGeom prst="rect">
            <a:avLst/>
          </a:prstGeom>
          <a:noFill/>
        </p:spPr>
        <p:txBody>
          <a:bodyPr wrap="square" lIns="0" rIns="0" tIns="0" bIns="0">
            <a:spAutoFit/>
          </a:bodyPr>
          <a:lstStyle/>
          <a:p>
            <a:pPr>
              <a:spcAft>
                <a:spcPts val="200"/>
              </a:spcAft>
              <a:defRPr sz="2200" b="1">
                <a:solidFill>
                  <a:srgbClr val="FFFFFF"/>
                </a:solidFill>
                <a:latin typeface="Segoe UI"/>
              </a:defRPr>
            </a:pPr>
            <a:r>
              <a:t>Technical Approach &amp; Multi-Source Fusion Pipeline</a:t>
            </a:r>
          </a:p>
          <a:p>
            <a:pPr>
              <a:defRPr sz="1150">
                <a:solidFill>
                  <a:srgbClr val="CBD5E1"/>
                </a:solidFill>
                <a:latin typeface="Segoe UI"/>
              </a:defRPr>
            </a:pPr>
            <a:r>
              <a:t>Physics-Grounded Deterministic Computation + Multi-Source Sensor Ingestion Pipeline</a:t>
            </a:r>
          </a:p>
        </p:txBody>
      </p:sp>
      <p:sp>
        <p:nvSpPr>
          <p:cNvPr id="5" name="Rounded Rectangle 4"/>
          <p:cNvSpPr/>
          <p:nvPr/>
        </p:nvSpPr>
        <p:spPr>
          <a:xfrm>
            <a:off x="731520" y="1645920"/>
            <a:ext cx="2029968" cy="128016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19072"/>
            <a:ext cx="1847088" cy="1133856"/>
          </a:xfrm>
          <a:prstGeom prst="rect">
            <a:avLst/>
          </a:prstGeom>
          <a:noFill/>
        </p:spPr>
        <p:txBody>
          <a:bodyPr wrap="square">
            <a:spAutoFit/>
          </a:bodyPr>
          <a:lstStyle/>
          <a:p>
            <a:pPr>
              <a:spcAft>
                <a:spcPts val="200"/>
              </a:spcAft>
              <a:defRPr sz="1000" b="1">
                <a:solidFill>
                  <a:srgbClr val="38BDF8"/>
                </a:solidFill>
                <a:latin typeface="Segoe UI"/>
              </a:defRPr>
            </a:pPr>
            <a:r>
              <a:t>STEP 1: SENSE</a:t>
            </a:r>
          </a:p>
          <a:p>
            <a:pPr>
              <a:defRPr sz="900">
                <a:solidFill>
                  <a:srgbClr val="E2E8F0"/>
                </a:solidFill>
                <a:latin typeface="Segoe UI"/>
              </a:defRPr>
            </a:pPr>
            <a:r>
              <a:t>IoT Rain Gauges, Ultrasonic River Levels, Soil TDR &amp; IMD Radar</a:t>
            </a:r>
          </a:p>
        </p:txBody>
      </p:sp>
      <p:sp>
        <p:nvSpPr>
          <p:cNvPr id="7" name="Rounded Rectangle 6"/>
          <p:cNvSpPr/>
          <p:nvPr/>
        </p:nvSpPr>
        <p:spPr>
          <a:xfrm>
            <a:off x="2907791" y="1645920"/>
            <a:ext cx="2029968" cy="128016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9231" y="1719072"/>
            <a:ext cx="1847088" cy="1133856"/>
          </a:xfrm>
          <a:prstGeom prst="rect">
            <a:avLst/>
          </a:prstGeom>
          <a:noFill/>
        </p:spPr>
        <p:txBody>
          <a:bodyPr wrap="square">
            <a:spAutoFit/>
          </a:bodyPr>
          <a:lstStyle/>
          <a:p>
            <a:pPr>
              <a:spcAft>
                <a:spcPts val="200"/>
              </a:spcAft>
              <a:defRPr sz="1000" b="1">
                <a:solidFill>
                  <a:srgbClr val="38BDF8"/>
                </a:solidFill>
                <a:latin typeface="Segoe UI"/>
              </a:defRPr>
            </a:pPr>
            <a:r>
              <a:t>STEP 2: VALIDATE &amp; FUSE</a:t>
            </a:r>
          </a:p>
          <a:p>
            <a:pPr>
              <a:defRPr sz="900">
                <a:solidFill>
                  <a:srgbClr val="E2E8F0"/>
                </a:solidFill>
                <a:latin typeface="Segoe UI"/>
              </a:defRPr>
            </a:pPr>
            <a:r>
              <a:t>Spike filtering, outlier bounds check, sensor timeout &amp; spatial IDW</a:t>
            </a:r>
          </a:p>
        </p:txBody>
      </p:sp>
      <p:sp>
        <p:nvSpPr>
          <p:cNvPr id="9" name="Rounded Rectangle 8"/>
          <p:cNvSpPr/>
          <p:nvPr/>
        </p:nvSpPr>
        <p:spPr>
          <a:xfrm>
            <a:off x="5084064" y="1645920"/>
            <a:ext cx="2029968" cy="128016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5504" y="1719072"/>
            <a:ext cx="1847088" cy="1133856"/>
          </a:xfrm>
          <a:prstGeom prst="rect">
            <a:avLst/>
          </a:prstGeom>
          <a:noFill/>
        </p:spPr>
        <p:txBody>
          <a:bodyPr wrap="square">
            <a:spAutoFit/>
          </a:bodyPr>
          <a:lstStyle/>
          <a:p>
            <a:pPr>
              <a:spcAft>
                <a:spcPts val="200"/>
              </a:spcAft>
              <a:defRPr sz="1000" b="1">
                <a:solidFill>
                  <a:srgbClr val="38BDF8"/>
                </a:solidFill>
                <a:latin typeface="Segoe UI"/>
              </a:defRPr>
            </a:pPr>
            <a:r>
              <a:t>STEP 3: ASSESS</a:t>
            </a:r>
          </a:p>
          <a:p>
            <a:pPr>
              <a:defRPr sz="900">
                <a:solidFill>
                  <a:srgbClr val="E2E8F0"/>
                </a:solidFill>
                <a:latin typeface="Segoe UI"/>
              </a:defRPr>
            </a:pPr>
            <a:r>
              <a:t>Flood Risk (0-100) + Landslide Slope Risk (0-100) + Soil Saturation</a:t>
            </a:r>
          </a:p>
        </p:txBody>
      </p:sp>
      <p:sp>
        <p:nvSpPr>
          <p:cNvPr id="11" name="Rounded Rectangle 10"/>
          <p:cNvSpPr/>
          <p:nvPr/>
        </p:nvSpPr>
        <p:spPr>
          <a:xfrm>
            <a:off x="7260336" y="1645920"/>
            <a:ext cx="2029968" cy="128016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51776" y="1719072"/>
            <a:ext cx="1847088" cy="1133856"/>
          </a:xfrm>
          <a:prstGeom prst="rect">
            <a:avLst/>
          </a:prstGeom>
          <a:noFill/>
        </p:spPr>
        <p:txBody>
          <a:bodyPr wrap="square">
            <a:spAutoFit/>
          </a:bodyPr>
          <a:lstStyle/>
          <a:p>
            <a:pPr>
              <a:spcAft>
                <a:spcPts val="200"/>
              </a:spcAft>
              <a:defRPr sz="1000" b="1">
                <a:solidFill>
                  <a:srgbClr val="38BDF8"/>
                </a:solidFill>
                <a:latin typeface="Segoe UI"/>
              </a:defRPr>
            </a:pPr>
            <a:r>
              <a:t>STEP 4: PREDICT</a:t>
            </a:r>
          </a:p>
          <a:p>
            <a:pPr>
              <a:defRPr sz="900">
                <a:solidFill>
                  <a:srgbClr val="E2E8F0"/>
                </a:solidFill>
                <a:latin typeface="Segoe UI"/>
              </a:defRPr>
            </a:pPr>
            <a:r>
              <a:t>Compound Risk Index + Dynamic Rate-of-Rise Estimated Lead Time</a:t>
            </a:r>
          </a:p>
        </p:txBody>
      </p:sp>
      <p:sp>
        <p:nvSpPr>
          <p:cNvPr id="13" name="Rounded Rectangle 12"/>
          <p:cNvSpPr/>
          <p:nvPr/>
        </p:nvSpPr>
        <p:spPr>
          <a:xfrm>
            <a:off x="9436608" y="1645920"/>
            <a:ext cx="2029968" cy="128016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8048" y="1719072"/>
            <a:ext cx="1847088" cy="1133856"/>
          </a:xfrm>
          <a:prstGeom prst="rect">
            <a:avLst/>
          </a:prstGeom>
          <a:noFill/>
        </p:spPr>
        <p:txBody>
          <a:bodyPr wrap="square">
            <a:spAutoFit/>
          </a:bodyPr>
          <a:lstStyle/>
          <a:p>
            <a:pPr>
              <a:spcAft>
                <a:spcPts val="200"/>
              </a:spcAft>
              <a:defRPr sz="1000" b="1">
                <a:solidFill>
                  <a:srgbClr val="38BDF8"/>
                </a:solidFill>
                <a:latin typeface="Segoe UI"/>
              </a:defRPr>
            </a:pPr>
            <a:r>
              <a:t>STEP 5: ACT</a:t>
            </a:r>
          </a:p>
          <a:p>
            <a:pPr>
              <a:defRPr sz="900">
                <a:solidFill>
                  <a:srgbClr val="E2E8F0"/>
                </a:solidFill>
                <a:latin typeface="Segoe UI"/>
              </a:defRPr>
            </a:pPr>
            <a:r>
              <a:t>Floodplain-excluding shelter assignment &amp; ridge bypass evacuation routing</a:t>
            </a:r>
          </a:p>
        </p:txBody>
      </p:sp>
      <p:sp>
        <p:nvSpPr>
          <p:cNvPr id="15" name="Rounded Rectangle 14"/>
          <p:cNvSpPr/>
          <p:nvPr/>
        </p:nvSpPr>
        <p:spPr>
          <a:xfrm>
            <a:off x="731520" y="3090672"/>
            <a:ext cx="6217920" cy="2011680"/>
          </a:xfrm>
          <a:prstGeom prst="roundRect">
            <a:avLst/>
          </a:prstGeom>
          <a:solidFill>
            <a:srgbClr val="102A4C"/>
          </a:solidFill>
          <a:ln w="1524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00400"/>
            <a:ext cx="5852160" cy="1783080"/>
          </a:xfrm>
          <a:prstGeom prst="rect">
            <a:avLst/>
          </a:prstGeom>
          <a:noFill/>
        </p:spPr>
        <p:txBody>
          <a:bodyPr wrap="square">
            <a:spAutoFit/>
          </a:bodyPr>
          <a:lstStyle/>
          <a:p>
            <a:pPr>
              <a:spcAft>
                <a:spcPts val="600"/>
              </a:spcAft>
              <a:defRPr sz="1050" b="1">
                <a:solidFill>
                  <a:srgbClr val="38BDF8"/>
                </a:solidFill>
                <a:latin typeface="Segoe UI"/>
              </a:defRPr>
            </a:pPr>
            <a:r>
              <a:t>DETERMINISTIC COMPOUND RISK FORMULATION (PRD §9 &amp; §10)</a:t>
            </a:r>
          </a:p>
          <a:p>
            <a:pPr>
              <a:spcAft>
                <a:spcPts val="600"/>
              </a:spcAft>
              <a:defRPr sz="1050" b="1">
                <a:solidFill>
                  <a:srgbClr val="FACC15"/>
                </a:solidFill>
                <a:latin typeface="Consolas"/>
              </a:defRPr>
            </a:pPr>
            <a:r>
              <a:t>Compound Risk = max(Flood, Landslide) × 0.65 + min(Flood, Landslide) × 0.20 + Vulnerability × 15</a:t>
            </a:r>
          </a:p>
          <a:p>
            <a:pPr>
              <a:spcAft>
                <a:spcPts val="400"/>
              </a:spcAft>
              <a:defRPr sz="950">
                <a:solidFill>
                  <a:srgbClr val="CBD5E1"/>
                </a:solidFill>
                <a:latin typeface="Segoe UI"/>
              </a:defRPr>
            </a:pPr>
            <a:r>
              <a:t>Prioritizes the dominant hazard surge while compounding secondary slope failure risks and village population exposure.</a:t>
            </a:r>
          </a:p>
          <a:p>
            <a:pPr>
              <a:defRPr sz="900">
                <a:solidFill>
                  <a:srgbClr val="94A3B8"/>
                </a:solidFill>
                <a:latin typeface="Segoe UI"/>
              </a:defRPr>
            </a:pPr>
            <a:r>
              <a:t>• Flood Factor (0-100): River level + rate of rise + rainfall accumulation</a:t>
            </a:r>
            <a:br/>
            <a:r>
              <a:t>• Landslide Factor (0-100): Saturation pore pressure + slope steepness + trigger rain</a:t>
            </a:r>
          </a:p>
        </p:txBody>
      </p:sp>
      <p:sp>
        <p:nvSpPr>
          <p:cNvPr id="17" name="Rounded Rectangle 16"/>
          <p:cNvSpPr/>
          <p:nvPr/>
        </p:nvSpPr>
        <p:spPr>
          <a:xfrm>
            <a:off x="7132320" y="3090672"/>
            <a:ext cx="4327855" cy="2011680"/>
          </a:xfrm>
          <a:prstGeom prst="roundRect">
            <a:avLst/>
          </a:prstGeom>
          <a:solidFill>
            <a:srgbClr val="102A4C"/>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3200400"/>
            <a:ext cx="3962095" cy="1783080"/>
          </a:xfrm>
          <a:prstGeom prst="rect">
            <a:avLst/>
          </a:prstGeom>
          <a:noFill/>
        </p:spPr>
        <p:txBody>
          <a:bodyPr wrap="square">
            <a:spAutoFit/>
          </a:bodyPr>
          <a:lstStyle/>
          <a:p>
            <a:pPr>
              <a:spcAft>
                <a:spcPts val="600"/>
              </a:spcAft>
              <a:defRPr sz="1050" b="1">
                <a:solidFill>
                  <a:srgbClr val="F97316"/>
                </a:solidFill>
                <a:latin typeface="Segoe UI"/>
              </a:defRPr>
            </a:pPr>
            <a:r>
              <a:t>ENGINEERING SAFETY &amp; ACCURACY GUARDRAILS</a:t>
            </a:r>
          </a:p>
          <a:p>
            <a:pPr>
              <a:spcAft>
                <a:spcPts val="400"/>
              </a:spcAft>
              <a:defRPr sz="950">
                <a:solidFill>
                  <a:srgbClr val="E2E8F0"/>
                </a:solidFill>
                <a:latin typeface="Segoe UI"/>
              </a:defRPr>
            </a:pPr>
            <a:r>
              <a:t>🛡 Hardware Validation: Sensor timeout marks source UNAVAILABLE, never silently assumed 0.</a:t>
            </a:r>
          </a:p>
          <a:p>
            <a:pPr>
              <a:spcAft>
                <a:spcPts val="400"/>
              </a:spcAft>
              <a:defRPr sz="950">
                <a:solidFill>
                  <a:srgbClr val="E2E8F0"/>
                </a:solidFill>
                <a:latin typeface="Segoe UI"/>
              </a:defRPr>
            </a:pPr>
            <a:r>
              <a:t>🛡 Alert Fatigue Suppression: 30-minute cooldown suppression for recurring alerts; immediate auto-escalation on severity spike.</a:t>
            </a:r>
          </a:p>
          <a:p>
            <a:pPr>
              <a:spcAft>
                <a:spcPts val="400"/>
              </a:spcAft>
              <a:defRPr sz="950">
                <a:solidFill>
                  <a:srgbClr val="E2E8F0"/>
                </a:solidFill>
                <a:latin typeface="Segoe UI"/>
              </a:defRPr>
            </a:pPr>
            <a:r>
              <a:t>🛡 Hydraulic Routing: Shelters located inside active flood plains are strictly excluded from assignment.</a:t>
            </a:r>
          </a:p>
        </p:txBody>
      </p:sp>
      <p:sp>
        <p:nvSpPr>
          <p:cNvPr id="19" name="Rounded Rectangle 18"/>
          <p:cNvSpPr/>
          <p:nvPr/>
        </p:nvSpPr>
        <p:spPr>
          <a:xfrm>
            <a:off x="731520" y="5257800"/>
            <a:ext cx="10728655" cy="1097280"/>
          </a:xfrm>
          <a:prstGeom prst="roundRect">
            <a:avLst/>
          </a:prstGeom>
          <a:solidFill>
            <a:srgbClr val="0E2646"/>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321808"/>
            <a:ext cx="10362895" cy="960120"/>
          </a:xfrm>
          <a:prstGeom prst="rect">
            <a:avLst/>
          </a:prstGeom>
          <a:noFill/>
        </p:spPr>
        <p:txBody>
          <a:bodyPr wrap="square">
            <a:spAutoFit/>
          </a:bodyPr>
          <a:lstStyle/>
          <a:p>
            <a:pPr>
              <a:spcAft>
                <a:spcPts val="400"/>
              </a:spcAft>
              <a:defRPr sz="950" b="1">
                <a:solidFill>
                  <a:srgbClr val="38BDF8"/>
                </a:solidFill>
                <a:latin typeface="Segoe UI"/>
              </a:defRPr>
            </a:pPr>
            <a:r>
              <a:t>PRODUCTION ARCHITECTURE &amp; CORE TECHNOLOGY STACK</a:t>
            </a:r>
          </a:p>
          <a:p>
            <a:pPr>
              <a:spcAft>
                <a:spcPts val="200"/>
              </a:spcAft>
              <a:defRPr sz="1000" b="1">
                <a:solidFill>
                  <a:srgbClr val="FFFFFF"/>
                </a:solidFill>
                <a:latin typeface="Segoe UI"/>
              </a:defRPr>
            </a:pPr>
            <a:r>
              <a:t>Python FastAPI   |   PostgreSQL + PostGIS   |   TimescaleDB Hypertables   |   Redis &amp; Celery   |   ESP32 / MQTT Telemetry   |   Pydantic V2   |   React 18 + Vite   |   Tailwind + TypeScript</a:t>
            </a:r>
          </a:p>
          <a:p>
            <a:pPr>
              <a:defRPr sz="850">
                <a:solidFill>
                  <a:srgbClr val="94A3B8"/>
                </a:solidFill>
                <a:latin typeface="Segoe UI"/>
              </a:defRPr>
            </a:pPr>
            <a:r>
              <a:t>Async Non-blocking API Core • PostGIS Spatial Geometries • TimescaleDB Telemetry Hypertables • Edge IoT Telemetry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950" b="1">
                <a:solidFill>
                  <a:srgbClr val="38BDF8"/>
                </a:solidFill>
                <a:latin typeface="Segoe UI"/>
              </a:defRPr>
            </a:pPr>
            <a:r>
              <a:t>SIH 2026 • PS 26192 • DISASTER MANAGEMENT</a:t>
            </a:r>
          </a:p>
        </p:txBody>
      </p:sp>
      <p:sp>
        <p:nvSpPr>
          <p:cNvPr id="4" name="TextBox 3"/>
          <p:cNvSpPr txBox="1"/>
          <p:nvPr/>
        </p:nvSpPr>
        <p:spPr>
          <a:xfrm>
            <a:off x="731520" y="658368"/>
            <a:ext cx="10728655" cy="868680"/>
          </a:xfrm>
          <a:prstGeom prst="rect">
            <a:avLst/>
          </a:prstGeom>
          <a:noFill/>
        </p:spPr>
        <p:txBody>
          <a:bodyPr wrap="square" lIns="0" rIns="0" tIns="0" bIns="0">
            <a:spAutoFit/>
          </a:bodyPr>
          <a:lstStyle/>
          <a:p>
            <a:pPr>
              <a:spcAft>
                <a:spcPts val="200"/>
              </a:spcAft>
              <a:defRPr sz="2200" b="1">
                <a:solidFill>
                  <a:srgbClr val="FFFFFF"/>
                </a:solidFill>
                <a:latin typeface="Segoe UI"/>
              </a:defRPr>
            </a:pPr>
            <a:r>
              <a:t>Feasibility, Viability &amp; Implementation Roadmap</a:t>
            </a:r>
          </a:p>
          <a:p>
            <a:pPr>
              <a:defRPr sz="1150">
                <a:solidFill>
                  <a:srgbClr val="CBD5E1"/>
                </a:solidFill>
                <a:latin typeface="Segoe UI"/>
              </a:defRPr>
            </a:pPr>
            <a:r>
              <a:t>Engineering Rigor, Edge-Resilient Deployment &amp; Phased Operational Rollout</a:t>
            </a:r>
          </a:p>
        </p:txBody>
      </p:sp>
      <p:sp>
        <p:nvSpPr>
          <p:cNvPr id="5" name="Rounded Rectangle 4"/>
          <p:cNvSpPr/>
          <p:nvPr/>
        </p:nvSpPr>
        <p:spPr>
          <a:xfrm>
            <a:off x="731520" y="1645920"/>
            <a:ext cx="3456432" cy="2011680"/>
          </a:xfrm>
          <a:prstGeom prst="roundRect">
            <a:avLst/>
          </a:prstGeom>
          <a:solidFill>
            <a:srgbClr val="102A4C"/>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82112" cy="1828800"/>
          </a:xfrm>
          <a:prstGeom prst="rect">
            <a:avLst/>
          </a:prstGeom>
          <a:noFill/>
        </p:spPr>
        <p:txBody>
          <a:bodyPr wrap="square">
            <a:spAutoFit/>
          </a:bodyPr>
          <a:lstStyle/>
          <a:p>
            <a:pPr>
              <a:spcAft>
                <a:spcPts val="200"/>
              </a:spcAft>
              <a:defRPr sz="1100" b="1">
                <a:solidFill>
                  <a:srgbClr val="FFFFFF"/>
                </a:solidFill>
                <a:latin typeface="Segoe UI"/>
              </a:defRPr>
            </a:pPr>
            <a:r>
              <a:t>Phase A: Pilot Prototype</a:t>
            </a:r>
          </a:p>
          <a:p>
            <a:pPr>
              <a:spcAft>
                <a:spcPts val="600"/>
              </a:spcAft>
              <a:defRPr sz="950" b="1">
                <a:solidFill>
                  <a:srgbClr val="22C55E"/>
                </a:solidFill>
                <a:latin typeface="Segoe UI"/>
              </a:defRPr>
            </a:pPr>
            <a:r>
              <a:t>Months 1–3 (Delivered &amp; Verified)</a:t>
            </a:r>
          </a:p>
          <a:p>
            <a:pPr>
              <a:defRPr sz="950">
                <a:solidFill>
                  <a:srgbClr val="E2E8F0"/>
                </a:solidFill>
                <a:latin typeface="Segoe UI"/>
              </a:defRPr>
            </a:pPr>
            <a:r>
              <a:t>Chamoli &amp; Rudraprayag pilot catchments, 14/14 automated tests passing, 12-step cloudburst simulator, React decision panes.</a:t>
            </a:r>
          </a:p>
        </p:txBody>
      </p:sp>
      <p:sp>
        <p:nvSpPr>
          <p:cNvPr id="7" name="Rounded Rectangle 6"/>
          <p:cNvSpPr/>
          <p:nvPr/>
        </p:nvSpPr>
        <p:spPr>
          <a:xfrm>
            <a:off x="4370832" y="1645920"/>
            <a:ext cx="3456432" cy="2011680"/>
          </a:xfrm>
          <a:prstGeom prst="roundRect">
            <a:avLst/>
          </a:prstGeom>
          <a:solidFill>
            <a:srgbClr val="102A4C"/>
          </a:solidFill>
          <a:ln w="1524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07992" y="1737360"/>
            <a:ext cx="3182112" cy="1828800"/>
          </a:xfrm>
          <a:prstGeom prst="rect">
            <a:avLst/>
          </a:prstGeom>
          <a:noFill/>
        </p:spPr>
        <p:txBody>
          <a:bodyPr wrap="square">
            <a:spAutoFit/>
          </a:bodyPr>
          <a:lstStyle/>
          <a:p>
            <a:pPr>
              <a:spcAft>
                <a:spcPts val="200"/>
              </a:spcAft>
              <a:defRPr sz="1100" b="1">
                <a:solidFill>
                  <a:srgbClr val="FFFFFF"/>
                </a:solidFill>
                <a:latin typeface="Segoe UI"/>
              </a:defRPr>
            </a:pPr>
            <a:r>
              <a:t>Phase B: Field Telemetry &amp; IoT</a:t>
            </a:r>
          </a:p>
          <a:p>
            <a:pPr>
              <a:spcAft>
                <a:spcPts val="600"/>
              </a:spcAft>
              <a:defRPr sz="950" b="1">
                <a:solidFill>
                  <a:srgbClr val="38BDF8"/>
                </a:solidFill>
                <a:latin typeface="Segoe UI"/>
              </a:defRPr>
            </a:pPr>
            <a:r>
              <a:t>Months 4–7</a:t>
            </a:r>
          </a:p>
          <a:p>
            <a:pPr>
              <a:defRPr sz="950">
                <a:solidFill>
                  <a:srgbClr val="E2E8F0"/>
                </a:solidFill>
                <a:latin typeface="Segoe UI"/>
              </a:defRPr>
            </a:pPr>
            <a:r>
              <a:t>Solar-powered ESP32 nodes, ultrasonic stream sensors, LoRaWAN gateways across Alaknanda &amp; Mandakini basins.</a:t>
            </a:r>
          </a:p>
        </p:txBody>
      </p:sp>
      <p:sp>
        <p:nvSpPr>
          <p:cNvPr id="9" name="Rounded Rectangle 8"/>
          <p:cNvSpPr/>
          <p:nvPr/>
        </p:nvSpPr>
        <p:spPr>
          <a:xfrm>
            <a:off x="8010144" y="1645920"/>
            <a:ext cx="3456432" cy="2011680"/>
          </a:xfrm>
          <a:prstGeom prst="roundRect">
            <a:avLst/>
          </a:prstGeom>
          <a:solidFill>
            <a:srgbClr val="102A4C"/>
          </a:solidFill>
          <a:ln w="1524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47304" y="1737360"/>
            <a:ext cx="3182112" cy="1828800"/>
          </a:xfrm>
          <a:prstGeom prst="rect">
            <a:avLst/>
          </a:prstGeom>
          <a:noFill/>
        </p:spPr>
        <p:txBody>
          <a:bodyPr wrap="square">
            <a:spAutoFit/>
          </a:bodyPr>
          <a:lstStyle/>
          <a:p>
            <a:pPr>
              <a:spcAft>
                <a:spcPts val="200"/>
              </a:spcAft>
              <a:defRPr sz="1100" b="1">
                <a:solidFill>
                  <a:srgbClr val="FFFFFF"/>
                </a:solidFill>
                <a:latin typeface="Segoe UI"/>
              </a:defRPr>
            </a:pPr>
            <a:r>
              <a:t>Phase C: State &amp; Regional Scale</a:t>
            </a:r>
          </a:p>
          <a:p>
            <a:pPr>
              <a:spcAft>
                <a:spcPts val="600"/>
              </a:spcAft>
              <a:defRPr sz="950" b="1">
                <a:solidFill>
                  <a:srgbClr val="38BDF8"/>
                </a:solidFill>
                <a:latin typeface="Segoe UI"/>
              </a:defRPr>
            </a:pPr>
            <a:r>
              <a:t>Months 8–12</a:t>
            </a:r>
          </a:p>
          <a:p>
            <a:pPr>
              <a:defRPr sz="950">
                <a:solidFill>
                  <a:srgbClr val="E2E8F0"/>
                </a:solidFill>
                <a:latin typeface="Segoe UI"/>
              </a:defRPr>
            </a:pPr>
            <a:r>
              <a:t>Integration with SDMA Uttarakhand, CWC hydrological feeds, multi-lingual vernacular SMS dispatch.</a:t>
            </a:r>
          </a:p>
        </p:txBody>
      </p:sp>
      <p:sp>
        <p:nvSpPr>
          <p:cNvPr id="11" name="Rounded Rectangle 10"/>
          <p:cNvSpPr/>
          <p:nvPr/>
        </p:nvSpPr>
        <p:spPr>
          <a:xfrm>
            <a:off x="731520" y="3840480"/>
            <a:ext cx="7498079" cy="2377440"/>
          </a:xfrm>
          <a:prstGeom prst="roundRect">
            <a:avLst/>
          </a:prstGeom>
          <a:solidFill>
            <a:srgbClr val="102A4C"/>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31920"/>
            <a:ext cx="7132320" cy="2194560"/>
          </a:xfrm>
          <a:prstGeom prst="rect">
            <a:avLst/>
          </a:prstGeom>
          <a:noFill/>
        </p:spPr>
        <p:txBody>
          <a:bodyPr wrap="square">
            <a:spAutoFit/>
          </a:bodyPr>
          <a:lstStyle/>
          <a:p>
            <a:pPr>
              <a:spcAft>
                <a:spcPts val="400"/>
              </a:spcAft>
              <a:defRPr sz="1050" b="1">
                <a:solidFill>
                  <a:srgbClr val="38BDF8"/>
                </a:solidFill>
                <a:latin typeface="Segoe UI"/>
              </a:defRPr>
            </a:pPr>
            <a:r>
              <a:t>FIELD RISK ASSESSMENT &amp; RESILIENCE MITIGATION MATRIX</a:t>
            </a:r>
          </a:p>
          <a:p>
            <a:pPr>
              <a:spcAft>
                <a:spcPts val="250"/>
              </a:spcAft>
            </a:pPr>
            <a:r>
              <a:rPr b="1" sz="950">
                <a:solidFill>
                  <a:srgbClr val="FACC15"/>
                </a:solidFill>
              </a:rPr>
              <a:t>▲ IMD API Outage / Network Cut: </a:t>
            </a:r>
            <a:r>
              <a:rPr sz="950">
                <a:solidFill>
                  <a:srgbClr val="E2E8F0"/>
                </a:solidFill>
              </a:rPr>
              <a:t>Local station caching + Inverse Distance Weighting (IDW) spatial fallback to adjacent active nodes.</a:t>
            </a:r>
          </a:p>
          <a:p>
            <a:pPr>
              <a:spcAft>
                <a:spcPts val="250"/>
              </a:spcAft>
            </a:pPr>
            <a:r>
              <a:rPr b="1" sz="950">
                <a:solidFill>
                  <a:srgbClr val="FACC15"/>
                </a:solidFill>
              </a:rPr>
              <a:t>▲ Field Sensor Physical Failure: </a:t>
            </a:r>
            <a:r>
              <a:rPr sz="950">
                <a:solidFill>
                  <a:srgbClr val="E2E8F0"/>
                </a:solidFill>
              </a:rPr>
              <a:t>Heartbeat watcher flags source UNAVAILABLE; model degrades gracefully to upstream rain gauge estimates.</a:t>
            </a:r>
          </a:p>
          <a:p>
            <a:pPr>
              <a:spcAft>
                <a:spcPts val="250"/>
              </a:spcAft>
            </a:pPr>
            <a:r>
              <a:rPr b="1" sz="950">
                <a:solidFill>
                  <a:srgbClr val="FACC15"/>
                </a:solidFill>
              </a:rPr>
              <a:t>▲ Mountain Cellular Dropouts: </a:t>
            </a:r>
            <a:r>
              <a:rPr sz="950">
                <a:solidFill>
                  <a:srgbClr val="E2E8F0"/>
                </a:solidFill>
              </a:rPr>
              <a:t>LoRaWAN edge mesh buffering up to 72 hours of readings on SD flash; emergency alert relays.</a:t>
            </a:r>
          </a:p>
          <a:p>
            <a:pPr>
              <a:spcAft>
                <a:spcPts val="250"/>
              </a:spcAft>
            </a:pPr>
            <a:r>
              <a:rPr b="1" sz="950">
                <a:solidFill>
                  <a:srgbClr val="FACC15"/>
                </a:solidFill>
              </a:rPr>
              <a:t>▲ False Alarm Alert Fatigue: </a:t>
            </a:r>
            <a:r>
              <a:rPr sz="950">
                <a:solidFill>
                  <a:srgbClr val="E2E8F0"/>
                </a:solidFill>
              </a:rPr>
              <a:t>Dual-threshold confirmation + 30-minute zone cooldown suppression; instant escalation on worsening.</a:t>
            </a:r>
          </a:p>
        </p:txBody>
      </p:sp>
      <p:sp>
        <p:nvSpPr>
          <p:cNvPr id="13" name="Rounded Rectangle 12"/>
          <p:cNvSpPr/>
          <p:nvPr/>
        </p:nvSpPr>
        <p:spPr>
          <a:xfrm>
            <a:off x="8412480" y="3840480"/>
            <a:ext cx="3047695" cy="2377440"/>
          </a:xfrm>
          <a:prstGeom prst="roundRect">
            <a:avLst/>
          </a:prstGeom>
          <a:solidFill>
            <a:srgbClr val="173862"/>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3977639"/>
            <a:ext cx="2773375" cy="2103120"/>
          </a:xfrm>
          <a:prstGeom prst="rect">
            <a:avLst/>
          </a:prstGeom>
          <a:noFill/>
        </p:spPr>
        <p:txBody>
          <a:bodyPr wrap="square">
            <a:spAutoFit/>
          </a:bodyPr>
          <a:lstStyle/>
          <a:p>
            <a:pPr>
              <a:spcAft>
                <a:spcPts val="400"/>
              </a:spcAft>
              <a:defRPr sz="1100" b="1">
                <a:solidFill>
                  <a:srgbClr val="22C55E"/>
                </a:solidFill>
                <a:latin typeface="Segoe UI"/>
              </a:defRPr>
            </a:pPr>
            <a:r>
              <a:t>ECONOMIC VIABILITY</a:t>
            </a:r>
          </a:p>
          <a:p>
            <a:pPr>
              <a:spcAft>
                <a:spcPts val="200"/>
              </a:spcAft>
              <a:defRPr sz="2800" b="1">
                <a:solidFill>
                  <a:srgbClr val="FFFFFF"/>
                </a:solidFill>
                <a:latin typeface="Segoe UI"/>
              </a:defRPr>
            </a:pPr>
            <a:r>
              <a:t>₹15,000</a:t>
            </a:r>
          </a:p>
          <a:p>
            <a:pPr>
              <a:spcAft>
                <a:spcPts val="600"/>
              </a:spcAft>
              <a:defRPr sz="950" b="1">
                <a:solidFill>
                  <a:srgbClr val="FACC15"/>
                </a:solidFill>
                <a:latin typeface="Segoe UI"/>
              </a:defRPr>
            </a:pPr>
            <a:r>
              <a:t>Avg. CapEx per Solar IoT Monitoring Node</a:t>
            </a:r>
          </a:p>
          <a:p>
            <a:pPr>
              <a:spcAft>
                <a:spcPts val="200"/>
              </a:spcAft>
              <a:defRPr sz="850">
                <a:solidFill>
                  <a:srgbClr val="E2E8F0"/>
                </a:solidFill>
                <a:latin typeface="Segoe UI"/>
              </a:defRPr>
            </a:pPr>
            <a:r>
              <a:t>• 10x more affordable than imported seismic/Doppler systems.</a:t>
            </a:r>
          </a:p>
          <a:p>
            <a:pPr>
              <a:spcAft>
                <a:spcPts val="200"/>
              </a:spcAft>
              <a:defRPr sz="850">
                <a:solidFill>
                  <a:srgbClr val="E2E8F0"/>
                </a:solidFill>
                <a:latin typeface="Segoe UI"/>
              </a:defRPr>
            </a:pPr>
            <a:r>
              <a:t>• Solar + LiFePO4 battery with 5-day cloudy backup.</a:t>
            </a:r>
          </a:p>
          <a:p>
            <a:pPr>
              <a:spcAft>
                <a:spcPts val="200"/>
              </a:spcAft>
              <a:defRPr sz="850">
                <a:solidFill>
                  <a:srgbClr val="E2E8F0"/>
                </a:solidFill>
                <a:latin typeface="Segoe UI"/>
              </a:defRPr>
            </a:pPr>
            <a:r>
              <a:t>• Uses open standards (MQTT / LoRaWAN / GSM 4G).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950" b="1">
                <a:solidFill>
                  <a:srgbClr val="38BDF8"/>
                </a:solidFill>
                <a:latin typeface="Segoe UI"/>
              </a:defRPr>
            </a:pPr>
            <a:r>
              <a:t>SIH 2026 • PS 26192 • DISASTER MANAGEMENT</a:t>
            </a:r>
          </a:p>
        </p:txBody>
      </p:sp>
      <p:sp>
        <p:nvSpPr>
          <p:cNvPr id="4" name="TextBox 3"/>
          <p:cNvSpPr txBox="1"/>
          <p:nvPr/>
        </p:nvSpPr>
        <p:spPr>
          <a:xfrm>
            <a:off x="731520" y="658368"/>
            <a:ext cx="10728655" cy="868680"/>
          </a:xfrm>
          <a:prstGeom prst="rect">
            <a:avLst/>
          </a:prstGeom>
          <a:noFill/>
        </p:spPr>
        <p:txBody>
          <a:bodyPr wrap="square" lIns="0" rIns="0" tIns="0" bIns="0">
            <a:spAutoFit/>
          </a:bodyPr>
          <a:lstStyle/>
          <a:p>
            <a:pPr>
              <a:spcAft>
                <a:spcPts val="200"/>
              </a:spcAft>
              <a:defRPr sz="2200" b="1">
                <a:solidFill>
                  <a:srgbClr val="FFFFFF"/>
                </a:solidFill>
                <a:latin typeface="Segoe UI"/>
              </a:defRPr>
            </a:pPr>
            <a:r>
              <a:t>Impact, Operational Benefits &amp; Target Metrics</a:t>
            </a:r>
          </a:p>
          <a:p>
            <a:pPr>
              <a:defRPr sz="1150">
                <a:solidFill>
                  <a:srgbClr val="CBD5E1"/>
                </a:solidFill>
                <a:latin typeface="Segoe UI"/>
              </a:defRPr>
            </a:pPr>
            <a:r>
              <a:t>Quantifiable Life-Safety Outcomes for Mountain Communities &amp; Disaster Responders</a:t>
            </a:r>
          </a:p>
        </p:txBody>
      </p:sp>
      <p:sp>
        <p:nvSpPr>
          <p:cNvPr id="5" name="Rounded Rectangle 4"/>
          <p:cNvSpPr/>
          <p:nvPr/>
        </p:nvSpPr>
        <p:spPr>
          <a:xfrm>
            <a:off x="731520" y="1645920"/>
            <a:ext cx="2542032" cy="155448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2359152" cy="1371600"/>
          </a:xfrm>
          <a:prstGeom prst="rect">
            <a:avLst/>
          </a:prstGeom>
          <a:noFill/>
        </p:spPr>
        <p:txBody>
          <a:bodyPr wrap="square">
            <a:spAutoFit/>
          </a:bodyPr>
          <a:lstStyle/>
          <a:p>
            <a:pPr algn="ctr">
              <a:spcAft>
                <a:spcPts val="200"/>
              </a:spcAft>
              <a:defRPr sz="2400" b="1">
                <a:solidFill>
                  <a:srgbClr val="FFFFFF"/>
                </a:solidFill>
                <a:latin typeface="Segoe UI"/>
              </a:defRPr>
            </a:pPr>
            <a:r>
              <a:t>30–45 Mins</a:t>
            </a:r>
          </a:p>
          <a:p>
            <a:pPr algn="ctr">
              <a:spcAft>
                <a:spcPts val="200"/>
              </a:spcAft>
              <a:defRPr sz="1050" b="1">
                <a:solidFill>
                  <a:srgbClr val="FACC15"/>
                </a:solidFill>
                <a:latin typeface="Segoe UI"/>
              </a:defRPr>
            </a:pPr>
            <a:r>
              <a:t>Estimated Lead Time</a:t>
            </a:r>
          </a:p>
          <a:p>
            <a:pPr algn="ctr">
              <a:defRPr sz="850">
                <a:solidFill>
                  <a:srgbClr val="CBD5E1"/>
                </a:solidFill>
                <a:latin typeface="Segoe UI"/>
              </a:defRPr>
            </a:pPr>
            <a:r>
              <a:t>Target window for pre-impact evacuation</a:t>
            </a:r>
          </a:p>
        </p:txBody>
      </p:sp>
      <p:sp>
        <p:nvSpPr>
          <p:cNvPr id="7" name="Rounded Rectangle 6"/>
          <p:cNvSpPr/>
          <p:nvPr/>
        </p:nvSpPr>
        <p:spPr>
          <a:xfrm>
            <a:off x="3456432" y="1645920"/>
            <a:ext cx="2542032" cy="155448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47872" y="1737360"/>
            <a:ext cx="2359152" cy="1371600"/>
          </a:xfrm>
          <a:prstGeom prst="rect">
            <a:avLst/>
          </a:prstGeom>
          <a:noFill/>
        </p:spPr>
        <p:txBody>
          <a:bodyPr wrap="square">
            <a:spAutoFit/>
          </a:bodyPr>
          <a:lstStyle/>
          <a:p>
            <a:pPr algn="ctr">
              <a:spcAft>
                <a:spcPts val="200"/>
              </a:spcAft>
              <a:defRPr sz="2400" b="1">
                <a:solidFill>
                  <a:srgbClr val="FFFFFF"/>
                </a:solidFill>
                <a:latin typeface="Segoe UI"/>
              </a:defRPr>
            </a:pPr>
            <a:r>
              <a:t>&lt; 10%</a:t>
            </a:r>
          </a:p>
          <a:p>
            <a:pPr algn="ctr">
              <a:spcAft>
                <a:spcPts val="200"/>
              </a:spcAft>
              <a:defRPr sz="1050" b="1">
                <a:solidFill>
                  <a:srgbClr val="FACC15"/>
                </a:solidFill>
                <a:latin typeface="Segoe UI"/>
              </a:defRPr>
            </a:pPr>
            <a:r>
              <a:t>False Positive Rate</a:t>
            </a:r>
          </a:p>
          <a:p>
            <a:pPr algn="ctr">
              <a:defRPr sz="850">
                <a:solidFill>
                  <a:srgbClr val="CBD5E1"/>
                </a:solidFill>
                <a:latin typeface="Segoe UI"/>
              </a:defRPr>
            </a:pPr>
            <a:r>
              <a:t>Target threshold to eliminate warning fatigue</a:t>
            </a:r>
          </a:p>
        </p:txBody>
      </p:sp>
      <p:sp>
        <p:nvSpPr>
          <p:cNvPr id="9" name="Rounded Rectangle 8"/>
          <p:cNvSpPr/>
          <p:nvPr/>
        </p:nvSpPr>
        <p:spPr>
          <a:xfrm>
            <a:off x="6181344" y="1645920"/>
            <a:ext cx="2542032" cy="155448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2784" y="1737360"/>
            <a:ext cx="2359152" cy="1371600"/>
          </a:xfrm>
          <a:prstGeom prst="rect">
            <a:avLst/>
          </a:prstGeom>
          <a:noFill/>
        </p:spPr>
        <p:txBody>
          <a:bodyPr wrap="square">
            <a:spAutoFit/>
          </a:bodyPr>
          <a:lstStyle/>
          <a:p>
            <a:pPr algn="ctr">
              <a:spcAft>
                <a:spcPts val="200"/>
              </a:spcAft>
              <a:defRPr sz="2400" b="1">
                <a:solidFill>
                  <a:srgbClr val="FFFFFF"/>
                </a:solidFill>
                <a:latin typeface="Segoe UI"/>
              </a:defRPr>
            </a:pPr>
            <a:r>
              <a:t>&lt; 5%</a:t>
            </a:r>
          </a:p>
          <a:p>
            <a:pPr algn="ctr">
              <a:spcAft>
                <a:spcPts val="200"/>
              </a:spcAft>
              <a:defRPr sz="1050" b="1">
                <a:solidFill>
                  <a:srgbClr val="FACC15"/>
                </a:solidFill>
                <a:latin typeface="Segoe UI"/>
              </a:defRPr>
            </a:pPr>
            <a:r>
              <a:t>Missed Event Target</a:t>
            </a:r>
          </a:p>
          <a:p>
            <a:pPr algn="ctr">
              <a:defRPr sz="850">
                <a:solidFill>
                  <a:srgbClr val="CBD5E1"/>
                </a:solidFill>
                <a:latin typeface="Segoe UI"/>
              </a:defRPr>
            </a:pPr>
            <a:r>
              <a:t>Zero-compromise disaster detection target</a:t>
            </a:r>
          </a:p>
        </p:txBody>
      </p:sp>
      <p:sp>
        <p:nvSpPr>
          <p:cNvPr id="11" name="Rounded Rectangle 10"/>
          <p:cNvSpPr/>
          <p:nvPr/>
        </p:nvSpPr>
        <p:spPr>
          <a:xfrm>
            <a:off x="8906256" y="1645920"/>
            <a:ext cx="2542032" cy="1554480"/>
          </a:xfrm>
          <a:prstGeom prst="roundRect">
            <a:avLst/>
          </a:prstGeom>
          <a:solidFill>
            <a:srgbClr val="17386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97696" y="1737360"/>
            <a:ext cx="2359152" cy="1371600"/>
          </a:xfrm>
          <a:prstGeom prst="rect">
            <a:avLst/>
          </a:prstGeom>
          <a:noFill/>
        </p:spPr>
        <p:txBody>
          <a:bodyPr wrap="square">
            <a:spAutoFit/>
          </a:bodyPr>
          <a:lstStyle/>
          <a:p>
            <a:pPr algn="ctr">
              <a:spcAft>
                <a:spcPts val="200"/>
              </a:spcAft>
              <a:defRPr sz="2400" b="1">
                <a:solidFill>
                  <a:srgbClr val="FFFFFF"/>
                </a:solidFill>
                <a:latin typeface="Segoe UI"/>
              </a:defRPr>
            </a:pPr>
            <a:r>
              <a:t>&gt; 0.90</a:t>
            </a:r>
          </a:p>
          <a:p>
            <a:pPr algn="ctr">
              <a:spcAft>
                <a:spcPts val="200"/>
              </a:spcAft>
              <a:defRPr sz="1050" b="1">
                <a:solidFill>
                  <a:srgbClr val="FACC15"/>
                </a:solidFill>
                <a:latin typeface="Segoe UI"/>
              </a:defRPr>
            </a:pPr>
            <a:r>
              <a:t>F1-Score Target</a:t>
            </a:r>
          </a:p>
          <a:p>
            <a:pPr algn="ctr">
              <a:defRPr sz="850">
                <a:solidFill>
                  <a:srgbClr val="CBD5E1"/>
                </a:solidFill>
                <a:latin typeface="Segoe UI"/>
              </a:defRPr>
            </a:pPr>
            <a:r>
              <a:t>Balanced precision-recall performance goal</a:t>
            </a:r>
          </a:p>
        </p:txBody>
      </p:sp>
      <p:sp>
        <p:nvSpPr>
          <p:cNvPr id="13" name="Rounded Rectangle 12"/>
          <p:cNvSpPr/>
          <p:nvPr/>
        </p:nvSpPr>
        <p:spPr>
          <a:xfrm>
            <a:off x="731520" y="3364992"/>
            <a:ext cx="3456432" cy="2240280"/>
          </a:xfrm>
          <a:prstGeom prst="roundRect">
            <a:avLst/>
          </a:prstGeom>
          <a:solidFill>
            <a:srgbClr val="102A4C"/>
          </a:solidFill>
          <a:ln w="1524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74720"/>
            <a:ext cx="3182112" cy="2011680"/>
          </a:xfrm>
          <a:prstGeom prst="rect">
            <a:avLst/>
          </a:prstGeom>
          <a:noFill/>
        </p:spPr>
        <p:txBody>
          <a:bodyPr wrap="square">
            <a:spAutoFit/>
          </a:bodyPr>
          <a:lstStyle/>
          <a:p>
            <a:pPr>
              <a:spcAft>
                <a:spcPts val="600"/>
              </a:spcAft>
              <a:defRPr sz="1100" b="1">
                <a:solidFill>
                  <a:srgbClr val="38BDF8"/>
                </a:solidFill>
                <a:latin typeface="Segoe UI"/>
              </a:defRPr>
            </a:pPr>
            <a:r>
              <a:t>NDRF &amp; SDMA COMMANDERS</a:t>
            </a:r>
          </a:p>
          <a:p>
            <a:pPr>
              <a:defRPr sz="950">
                <a:solidFill>
                  <a:srgbClr val="E2E8F0"/>
                </a:solidFill>
                <a:latin typeface="Segoe UI"/>
              </a:defRPr>
            </a:pPr>
            <a:r>
              <a:t>Common Operational Picture: Exact village catchments at risk, automated shelter capacity tracking, and pre-staged rescue deployment.</a:t>
            </a:r>
          </a:p>
        </p:txBody>
      </p:sp>
      <p:sp>
        <p:nvSpPr>
          <p:cNvPr id="15" name="Rounded Rectangle 14"/>
          <p:cNvSpPr/>
          <p:nvPr/>
        </p:nvSpPr>
        <p:spPr>
          <a:xfrm>
            <a:off x="4370832" y="3364992"/>
            <a:ext cx="3456432" cy="2240280"/>
          </a:xfrm>
          <a:prstGeom prst="roundRect">
            <a:avLst/>
          </a:prstGeom>
          <a:solidFill>
            <a:srgbClr val="102A4C"/>
          </a:solidFill>
          <a:ln w="1524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3474720"/>
            <a:ext cx="3182112" cy="2011680"/>
          </a:xfrm>
          <a:prstGeom prst="rect">
            <a:avLst/>
          </a:prstGeom>
          <a:noFill/>
        </p:spPr>
        <p:txBody>
          <a:bodyPr wrap="square">
            <a:spAutoFit/>
          </a:bodyPr>
          <a:lstStyle/>
          <a:p>
            <a:pPr>
              <a:spcAft>
                <a:spcPts val="600"/>
              </a:spcAft>
              <a:defRPr sz="1100" b="1">
                <a:solidFill>
                  <a:srgbClr val="38BDF8"/>
                </a:solidFill>
                <a:latin typeface="Segoe UI"/>
              </a:defRPr>
            </a:pPr>
            <a:r>
              <a:t>DISTRICT MAGISTRATES &amp; OFFICIALS</a:t>
            </a:r>
          </a:p>
          <a:p>
            <a:pPr>
              <a:defRPr sz="950">
                <a:solidFill>
                  <a:srgbClr val="E2E8F0"/>
                </a:solidFill>
                <a:latin typeface="Segoe UI"/>
              </a:defRPr>
            </a:pPr>
            <a:r>
              <a:t>Defensible Decision Support: Scientific lead-time estimates and audit-ready automated incident logs for accountability.</a:t>
            </a:r>
          </a:p>
        </p:txBody>
      </p:sp>
      <p:sp>
        <p:nvSpPr>
          <p:cNvPr id="17" name="Rounded Rectangle 16"/>
          <p:cNvSpPr/>
          <p:nvPr/>
        </p:nvSpPr>
        <p:spPr>
          <a:xfrm>
            <a:off x="8010144" y="3364992"/>
            <a:ext cx="3456432" cy="2240280"/>
          </a:xfrm>
          <a:prstGeom prst="roundRect">
            <a:avLst/>
          </a:prstGeom>
          <a:solidFill>
            <a:srgbClr val="102A4C"/>
          </a:solidFill>
          <a:ln w="1524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7304" y="3474720"/>
            <a:ext cx="3182112" cy="2011680"/>
          </a:xfrm>
          <a:prstGeom prst="rect">
            <a:avLst/>
          </a:prstGeom>
          <a:noFill/>
        </p:spPr>
        <p:txBody>
          <a:bodyPr wrap="square">
            <a:spAutoFit/>
          </a:bodyPr>
          <a:lstStyle/>
          <a:p>
            <a:pPr>
              <a:spcAft>
                <a:spcPts val="600"/>
              </a:spcAft>
              <a:defRPr sz="1100" b="1">
                <a:solidFill>
                  <a:srgbClr val="38BDF8"/>
                </a:solidFill>
                <a:latin typeface="Segoe UI"/>
              </a:defRPr>
            </a:pPr>
            <a:r>
              <a:t>VULNERABLE CITIZENS &amp; GRAM PANCHAYATS</a:t>
            </a:r>
          </a:p>
          <a:p>
            <a:pPr>
              <a:defRPr sz="950">
                <a:solidFill>
                  <a:srgbClr val="E2E8F0"/>
                </a:solidFill>
                <a:latin typeface="Segoe UI"/>
              </a:defRPr>
            </a:pPr>
            <a:r>
              <a:t>Clear Plain-Language Instructions: Plain SMS alerts naming safe high-ground shelters and avoiding lethal river corridors.</a:t>
            </a:r>
          </a:p>
        </p:txBody>
      </p:sp>
      <p:sp>
        <p:nvSpPr>
          <p:cNvPr id="19" name="Rounded Rectangle 18"/>
          <p:cNvSpPr/>
          <p:nvPr/>
        </p:nvSpPr>
        <p:spPr>
          <a:xfrm>
            <a:off x="731520" y="5760720"/>
            <a:ext cx="10728655" cy="685800"/>
          </a:xfrm>
          <a:prstGeom prst="roundRect">
            <a:avLst/>
          </a:prstGeom>
          <a:solidFill>
            <a:srgbClr val="123058"/>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806440"/>
            <a:ext cx="10454335" cy="594360"/>
          </a:xfrm>
          <a:prstGeom prst="rect">
            <a:avLst/>
          </a:prstGeom>
          <a:noFill/>
        </p:spPr>
        <p:txBody>
          <a:bodyPr wrap="none" anchor="ctr">
            <a:spAutoFit/>
          </a:bodyPr>
          <a:lstStyle/>
          <a:p>
            <a:pPr algn="ctr">
              <a:defRPr sz="1500" b="1">
                <a:solidFill>
                  <a:srgbClr val="22C55E"/>
                </a:solidFill>
                <a:latin typeface="Segoe UI"/>
              </a:defRPr>
            </a:pPr>
            <a:r>
              <a:t>DETECT EARLIER. IDENTIFY LOCALLY. ACT IN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rIns="0" tIns="0" bIns="0">
            <a:spAutoFit/>
          </a:bodyPr>
          <a:lstStyle/>
          <a:p>
            <a:pPr>
              <a:defRPr sz="950" b="1">
                <a:solidFill>
                  <a:srgbClr val="38BDF8"/>
                </a:solidFill>
                <a:latin typeface="Segoe UI"/>
              </a:defRPr>
            </a:pPr>
            <a:r>
              <a:t>SIH 2026 • PS 26192 • DISASTER MANAGEMENT</a:t>
            </a:r>
          </a:p>
        </p:txBody>
      </p:sp>
      <p:sp>
        <p:nvSpPr>
          <p:cNvPr id="4" name="TextBox 3"/>
          <p:cNvSpPr txBox="1"/>
          <p:nvPr/>
        </p:nvSpPr>
        <p:spPr>
          <a:xfrm>
            <a:off x="731520" y="658368"/>
            <a:ext cx="10728655" cy="868680"/>
          </a:xfrm>
          <a:prstGeom prst="rect">
            <a:avLst/>
          </a:prstGeom>
          <a:noFill/>
        </p:spPr>
        <p:txBody>
          <a:bodyPr wrap="square" lIns="0" rIns="0" tIns="0" bIns="0">
            <a:spAutoFit/>
          </a:bodyPr>
          <a:lstStyle/>
          <a:p>
            <a:pPr>
              <a:spcAft>
                <a:spcPts val="200"/>
              </a:spcAft>
              <a:defRPr sz="2200" b="1">
                <a:solidFill>
                  <a:srgbClr val="FFFFFF"/>
                </a:solidFill>
                <a:latin typeface="Segoe UI"/>
              </a:defRPr>
            </a:pPr>
            <a:r>
              <a:t>Research, References &amp; Technical Grounding</a:t>
            </a:r>
          </a:p>
          <a:p>
            <a:pPr>
              <a:defRPr sz="1150">
                <a:solidFill>
                  <a:srgbClr val="CBD5E1"/>
                </a:solidFill>
                <a:latin typeface="Segoe UI"/>
              </a:defRPr>
            </a:pPr>
            <a:r>
              <a:t>Grounded in Authoritative Hydrological Standards, Geotechnical Formulations &amp; National Datasets</a:t>
            </a:r>
          </a:p>
        </p:txBody>
      </p:sp>
      <p:sp>
        <p:nvSpPr>
          <p:cNvPr id="5" name="Rounded Rectangle 4"/>
          <p:cNvSpPr/>
          <p:nvPr/>
        </p:nvSpPr>
        <p:spPr>
          <a:xfrm>
            <a:off x="731520" y="1645920"/>
            <a:ext cx="5230368" cy="2057400"/>
          </a:xfrm>
          <a:prstGeom prst="roundRect">
            <a:avLst/>
          </a:prstGeom>
          <a:solidFill>
            <a:srgbClr val="102A4C"/>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55648"/>
            <a:ext cx="4901184" cy="1837944"/>
          </a:xfrm>
          <a:prstGeom prst="rect">
            <a:avLst/>
          </a:prstGeom>
          <a:noFill/>
        </p:spPr>
        <p:txBody>
          <a:bodyPr wrap="square">
            <a:spAutoFit/>
          </a:bodyPr>
          <a:lstStyle/>
          <a:p>
            <a:pPr>
              <a:spcAft>
                <a:spcPts val="400"/>
              </a:spcAft>
              <a:defRPr sz="1050" b="1">
                <a:solidFill>
                  <a:srgbClr val="38BDF8"/>
                </a:solidFill>
                <a:latin typeface="Segoe UI"/>
              </a:defRPr>
            </a:pPr>
            <a:r>
              <a:t>1. DATASETS &amp; TELEMETRY FEEDS</a:t>
            </a:r>
          </a:p>
          <a:p>
            <a:pPr>
              <a:spcAft>
                <a:spcPts val="200"/>
              </a:spcAft>
              <a:defRPr sz="900">
                <a:solidFill>
                  <a:srgbClr val="E2E8F0"/>
                </a:solidFill>
                <a:latin typeface="Segoe UI"/>
              </a:defRPr>
            </a:pPr>
            <a:r>
              <a:t>• India Meteorological Department (IMD) AWS &amp; Doppler Radar Rainfall</a:t>
            </a:r>
          </a:p>
          <a:p>
            <a:pPr>
              <a:spcAft>
                <a:spcPts val="200"/>
              </a:spcAft>
              <a:defRPr sz="900">
                <a:solidFill>
                  <a:srgbClr val="E2E8F0"/>
                </a:solidFill>
                <a:latin typeface="Segoe UI"/>
              </a:defRPr>
            </a:pPr>
            <a:r>
              <a:t>• Central Water Commission (CWC) River Gauge Baselines</a:t>
            </a:r>
          </a:p>
          <a:p>
            <a:pPr>
              <a:spcAft>
                <a:spcPts val="200"/>
              </a:spcAft>
              <a:defRPr sz="900">
                <a:solidFill>
                  <a:srgbClr val="E2E8F0"/>
                </a:solidFill>
                <a:latin typeface="Segoe UI"/>
              </a:defRPr>
            </a:pPr>
            <a:r>
              <a:t>• NASA SRTM 30m Digital Elevation Models (Slope, Aspect, Drainage)</a:t>
            </a:r>
          </a:p>
          <a:p>
            <a:pPr>
              <a:spcAft>
                <a:spcPts val="200"/>
              </a:spcAft>
              <a:defRPr sz="900">
                <a:solidFill>
                  <a:srgbClr val="E2E8F0"/>
                </a:solidFill>
                <a:latin typeface="Segoe UI"/>
              </a:defRPr>
            </a:pPr>
            <a:r>
              <a:t>• Survey of India &amp; Census 2011 Village Spatial Boundaries</a:t>
            </a:r>
          </a:p>
        </p:txBody>
      </p:sp>
      <p:sp>
        <p:nvSpPr>
          <p:cNvPr id="7" name="Rounded Rectangle 6"/>
          <p:cNvSpPr/>
          <p:nvPr/>
        </p:nvSpPr>
        <p:spPr>
          <a:xfrm>
            <a:off x="6217920" y="1645920"/>
            <a:ext cx="5230368" cy="2057400"/>
          </a:xfrm>
          <a:prstGeom prst="roundRect">
            <a:avLst/>
          </a:prstGeom>
          <a:solidFill>
            <a:srgbClr val="102A4C"/>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755648"/>
            <a:ext cx="4901184" cy="1837944"/>
          </a:xfrm>
          <a:prstGeom prst="rect">
            <a:avLst/>
          </a:prstGeom>
          <a:noFill/>
        </p:spPr>
        <p:txBody>
          <a:bodyPr wrap="square">
            <a:spAutoFit/>
          </a:bodyPr>
          <a:lstStyle/>
          <a:p>
            <a:pPr>
              <a:spcAft>
                <a:spcPts val="400"/>
              </a:spcAft>
              <a:defRPr sz="1050" b="1">
                <a:solidFill>
                  <a:srgbClr val="38BDF8"/>
                </a:solidFill>
                <a:latin typeface="Segoe UI"/>
              </a:defRPr>
            </a:pPr>
            <a:r>
              <a:t>2. GEOTECHNICAL &amp; HYDROLOGICAL MODELS</a:t>
            </a:r>
          </a:p>
          <a:p>
            <a:pPr>
              <a:spcAft>
                <a:spcPts val="200"/>
              </a:spcAft>
              <a:defRPr sz="900">
                <a:solidFill>
                  <a:srgbClr val="E2E8F0"/>
                </a:solidFill>
                <a:latin typeface="Segoe UI"/>
              </a:defRPr>
            </a:pPr>
            <a:r>
              <a:t>• Deterministic Infinite Slope Stability Formulation (Factor of Safety)</a:t>
            </a:r>
          </a:p>
          <a:p>
            <a:pPr>
              <a:spcAft>
                <a:spcPts val="200"/>
              </a:spcAft>
              <a:defRPr sz="900">
                <a:solidFill>
                  <a:srgbClr val="E2E8F0"/>
                </a:solidFill>
                <a:latin typeface="Segoe UI"/>
              </a:defRPr>
            </a:pPr>
            <a:r>
              <a:t>• SCS-CN Hydrological Runoff &amp; Stream Power Index (SPI)</a:t>
            </a:r>
          </a:p>
          <a:p>
            <a:pPr>
              <a:spcAft>
                <a:spcPts val="200"/>
              </a:spcAft>
              <a:defRPr sz="900">
                <a:solidFill>
                  <a:srgbClr val="E2E8F0"/>
                </a:solidFill>
                <a:latin typeface="Segoe UI"/>
              </a:defRPr>
            </a:pPr>
            <a:r>
              <a:t>• Topographic Wetness Index (TWI) for Himalayan Debris Basins</a:t>
            </a:r>
          </a:p>
          <a:p>
            <a:pPr>
              <a:spcAft>
                <a:spcPts val="200"/>
              </a:spcAft>
              <a:defRPr sz="900">
                <a:solidFill>
                  <a:srgbClr val="E2E8F0"/>
                </a:solidFill>
                <a:latin typeface="Segoe UI"/>
              </a:defRPr>
            </a:pPr>
            <a:r>
              <a:t>• Ensemble Time-Series Sequence Modeling (LSTM / XGBoost)</a:t>
            </a:r>
          </a:p>
        </p:txBody>
      </p:sp>
      <p:sp>
        <p:nvSpPr>
          <p:cNvPr id="9" name="Rounded Rectangle 8"/>
          <p:cNvSpPr/>
          <p:nvPr/>
        </p:nvSpPr>
        <p:spPr>
          <a:xfrm>
            <a:off x="731520" y="3840480"/>
            <a:ext cx="5230368" cy="2057400"/>
          </a:xfrm>
          <a:prstGeom prst="roundRect">
            <a:avLst/>
          </a:prstGeom>
          <a:solidFill>
            <a:srgbClr val="102A4C"/>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950208"/>
            <a:ext cx="4901184" cy="1837944"/>
          </a:xfrm>
          <a:prstGeom prst="rect">
            <a:avLst/>
          </a:prstGeom>
          <a:noFill/>
        </p:spPr>
        <p:txBody>
          <a:bodyPr wrap="square">
            <a:spAutoFit/>
          </a:bodyPr>
          <a:lstStyle/>
          <a:p>
            <a:pPr>
              <a:spcAft>
                <a:spcPts val="400"/>
              </a:spcAft>
              <a:defRPr sz="1050" b="1">
                <a:solidFill>
                  <a:srgbClr val="38BDF8"/>
                </a:solidFill>
                <a:latin typeface="Segoe UI"/>
              </a:defRPr>
            </a:pPr>
            <a:r>
              <a:t>3. DISASTER INVENTORIES &amp; VALIDATION</a:t>
            </a:r>
          </a:p>
          <a:p>
            <a:pPr>
              <a:spcAft>
                <a:spcPts val="200"/>
              </a:spcAft>
              <a:defRPr sz="900">
                <a:solidFill>
                  <a:srgbClr val="E2E8F0"/>
                </a:solidFill>
                <a:latin typeface="Segoe UI"/>
              </a:defRPr>
            </a:pPr>
            <a:r>
              <a:t>• Geological Survey of India (GSI) National Landslide Susceptibility</a:t>
            </a:r>
          </a:p>
          <a:p>
            <a:pPr>
              <a:spcAft>
                <a:spcPts val="200"/>
              </a:spcAft>
              <a:defRPr sz="900">
                <a:solidFill>
                  <a:srgbClr val="E2E8F0"/>
                </a:solidFill>
                <a:latin typeface="Segoe UI"/>
              </a:defRPr>
            </a:pPr>
            <a:r>
              <a:t>• Uttarakhand SDMA 2013 &amp; 2021 Post-Disaster Forensic Archives</a:t>
            </a:r>
          </a:p>
          <a:p>
            <a:pPr>
              <a:spcAft>
                <a:spcPts val="200"/>
              </a:spcAft>
              <a:defRPr sz="900">
                <a:solidFill>
                  <a:srgbClr val="E2E8F0"/>
                </a:solidFill>
                <a:latin typeface="Segoe UI"/>
              </a:defRPr>
            </a:pPr>
            <a:r>
              <a:t>• Chamoli Rishi Ganga Flash Flood Historical Reconstruction Data</a:t>
            </a:r>
          </a:p>
          <a:p>
            <a:pPr>
              <a:spcAft>
                <a:spcPts val="200"/>
              </a:spcAft>
              <a:defRPr sz="900">
                <a:solidFill>
                  <a:srgbClr val="E2E8F0"/>
                </a:solidFill>
                <a:latin typeface="Segoe UI"/>
              </a:defRPr>
            </a:pPr>
            <a:r>
              <a:t>• EM-DAT International Disaster Database Records</a:t>
            </a:r>
          </a:p>
        </p:txBody>
      </p:sp>
      <p:sp>
        <p:nvSpPr>
          <p:cNvPr id="11" name="Rounded Rectangle 10"/>
          <p:cNvSpPr/>
          <p:nvPr/>
        </p:nvSpPr>
        <p:spPr>
          <a:xfrm>
            <a:off x="6217920" y="3840480"/>
            <a:ext cx="5230368" cy="2057400"/>
          </a:xfrm>
          <a:prstGeom prst="roundRect">
            <a:avLst/>
          </a:prstGeom>
          <a:solidFill>
            <a:srgbClr val="102A4C"/>
          </a:solidFill>
          <a:ln w="15240">
            <a:solidFill>
              <a:srgbClr val="284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3950208"/>
            <a:ext cx="4901184" cy="1837944"/>
          </a:xfrm>
          <a:prstGeom prst="rect">
            <a:avLst/>
          </a:prstGeom>
          <a:noFill/>
        </p:spPr>
        <p:txBody>
          <a:bodyPr wrap="square">
            <a:spAutoFit/>
          </a:bodyPr>
          <a:lstStyle/>
          <a:p>
            <a:pPr>
              <a:spcAft>
                <a:spcPts val="400"/>
              </a:spcAft>
              <a:defRPr sz="1050" b="1">
                <a:solidFill>
                  <a:srgbClr val="38BDF8"/>
                </a:solidFill>
                <a:latin typeface="Segoe UI"/>
              </a:defRPr>
            </a:pPr>
            <a:r>
              <a:t>4. PROTOCOLS &amp; GOVERNANCE ALIGNMENT</a:t>
            </a:r>
          </a:p>
          <a:p>
            <a:pPr>
              <a:spcAft>
                <a:spcPts val="200"/>
              </a:spcAft>
              <a:defRPr sz="900">
                <a:solidFill>
                  <a:srgbClr val="E2E8F0"/>
                </a:solidFill>
                <a:latin typeface="Segoe UI"/>
              </a:defRPr>
            </a:pPr>
            <a:r>
              <a:t>• National Disaster Management Authority (NDMA) Standard Operating Protocols</a:t>
            </a:r>
          </a:p>
          <a:p>
            <a:pPr>
              <a:spcAft>
                <a:spcPts val="200"/>
              </a:spcAft>
              <a:defRPr sz="900">
                <a:solidFill>
                  <a:srgbClr val="E2E8F0"/>
                </a:solidFill>
                <a:latin typeface="Segoe UI"/>
              </a:defRPr>
            </a:pPr>
            <a:r>
              <a:t>• WMO Early Warnings for All (EW4All) Global Guidelines</a:t>
            </a:r>
          </a:p>
          <a:p>
            <a:pPr>
              <a:spcAft>
                <a:spcPts val="200"/>
              </a:spcAft>
              <a:defRPr sz="900">
                <a:solidFill>
                  <a:srgbClr val="E2E8F0"/>
                </a:solidFill>
                <a:latin typeface="Segoe UI"/>
              </a:defRPr>
            </a:pPr>
            <a:r>
              <a:t>• Sendai Framework for Disaster Risk Reduction (2015–2030) Target G</a:t>
            </a:r>
          </a:p>
          <a:p>
            <a:pPr>
              <a:spcAft>
                <a:spcPts val="200"/>
              </a:spcAft>
              <a:defRPr sz="900">
                <a:solidFill>
                  <a:srgbClr val="E2E8F0"/>
                </a:solidFill>
                <a:latin typeface="Segoe UI"/>
              </a:defRPr>
            </a:pPr>
            <a:r>
              <a:t>• TRAI Guidelines for Priority Emergency Telecom Warning SMS</a:t>
            </a:r>
          </a:p>
        </p:txBody>
      </p:sp>
      <p:sp>
        <p:nvSpPr>
          <p:cNvPr id="13" name="TextBox 12"/>
          <p:cNvSpPr txBox="1"/>
          <p:nvPr/>
        </p:nvSpPr>
        <p:spPr>
          <a:xfrm>
            <a:off x="731520" y="6080760"/>
            <a:ext cx="10728655" cy="365760"/>
          </a:xfrm>
          <a:prstGeom prst="rect">
            <a:avLst/>
          </a:prstGeom>
          <a:noFill/>
        </p:spPr>
        <p:txBody>
          <a:bodyPr wrap="square">
            <a:spAutoFit/>
          </a:bodyPr>
          <a:lstStyle/>
          <a:p>
            <a:pPr algn="ctr">
              <a:defRPr sz="950">
                <a:solidFill>
                  <a:srgbClr val="94A3B8"/>
                </a:solidFill>
                <a:latin typeface="Segoe UI"/>
              </a:defRPr>
            </a:pPr>
            <a:r>
              <a:t>Smart India Hackathon 2026 | Prepared for Ministry of Home Affairs &amp; NDRF | PRALAYADARSHI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